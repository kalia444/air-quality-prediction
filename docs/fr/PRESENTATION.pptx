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vais vous présenter mon projet de fin de formation. L’objectif est double : d’abord prédire la qualité de l’air à partir de capteurs, et surtout rendre ce modèle réellement utilisable, comme dans une entreprise. Je vais vous montrer les cinq grandes étapes, qui correspondent aux compétences C9 à C13.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Voici le déroulé. Je commence par le contexte et la démarche, puis je détaille les cinq compétences C9 à C13, je vous montre une démonstration en vidéo, et je termine par la conclusion et vos questions. L’ensemble tient en une vingtaine de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 Le but est d’estimer la qualité de l’air à partir de capteurs. Le jeu de données contient 4 000 mesures horaires. En l’explorant, j’ai découvert un problème : la colonne à prédire était du bruit, sans aucun lien avec les mesures (corrélation inférieure à 0,04). Résultat, tous les modèles échouaient. La diapo suivante explique comment je l’ai corrigé.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 La solution a été de recalculer un vrai indice de qualité de l’air avec la formule officielle de l’EPA, à partir des polluants. Le modèle s’appuie sur trente variables, regroupées en familles : les sept polluants, cinq variables météo, six variables dérivées (ratios, moyennes mobiles, indice température-humidité), des variables temporelles avec leurs encodages cycliques, et deux interactions physiques. Le graphique de droite confirme que les variables les plus importantes sont l’ozone et les particules fines, ce qui correspond à la logique de l’AQI.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les résultats résumés en trois chiffres simples. Premièrement, le modèle obtient un score R² de 0,999 ; un score proche de 1 veut dire qu’il se trompe très peu. Deuxièmement, j’ai 33 tests automatiques qui vérifient que tout fonctionne. Et troisièmement, les cinq compétences attendues, de C9 à C13, sont toutes couvertes.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Voici l’architecture d’ensemble. À gauche, la donnée et le modèle. Le modèle est exposé par une API, consommée par une application. Le tout est surveillé par le monitoring et industrialisé par la chaîne MLOps. Point clé : l’API et l’application partagent le même code de préparation des données, donc elles ne peuvent pas donner des résultats différents.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 J’expose le modèle avec une API REST développée avec FastAPI. Elle valide les données reçues (et refuse une entrée hors plage), exige une clé d’accès, gère le CORS et limite le débit. Sa documentation OpenAPI est générée automatiquement, ce que vous voyez à l’écran. C’est elle qui permet aux autres composants de parler au modèle. Libellé officiel C9 : développer une API REST exposant un modèle d’IA en respectant ses spécifications fonctionnelles et techniques et les standards de qualité et de sécurité, pour permettre l’interaction entre le modèle et les autres composants du projet.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 J’ai intégré l’API dans une application web Streamlit, en m’appuyant sur la documentation technique (le contrat OpenAPI). L’utilisateur saisit des mesures et obtient l’indice et sa catégorie, à l’unité ou par lot. J’ai respecté les normes d’accessibilité : la catégorie est restituée par texte, icône et couleur, jamais la couleur seule. Libellé officiel C10 : intégrer l’API d’un modèle d’IA dans une application, en respectant les spécifications et les normes d’accessibilité, à l’aide de la documentation technique de l’API.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[~2:00] Je surveille le modèle en continu. Côté collecte, j’expose des métriques Prometheus. Côté restitution, je produis un rapport de dérive des données. Et côté alerte, dès que les données s’éloignent trop de l’entraînement, une alerte se déclenche automatiquement : c’est ce qui permet d’améliorer le modèle de façon itérative. Libellé officiel C11 : monitorer un modèle d’IA à partir de métriques courantes et spécifiques, en intégrant les outils de collecte, d’alerte et de restitution, pour permettre l’amélioration itérative du modèle.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J’ai écrit 33 tests automatiques qui couvrent toute la chaîne : des règles de validation des données, les étapes de préparation, d’entraînement et d’évaluation, et une barrière de validation du modèle qui bloque si le R² descend sous 0,9. Tout est rejoué par l’intégration continue. Libellé officiel C12 : programmer les tests automatisés en définissant les règles de validation des jeux de données, des étapes de préparation, d’entraînement, d’évaluation et de validation du modèle, pour l’intégration continue et un niveau de qualité élevé.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[~1:30] Dernière compétence : l’automatisation, le MLOps. À chaque modification du code, une chaîne se déclenche seule : elle vérifie le style, lance les 33 tests, réentraîne le modèle, construit le conteneur Docker et le publie. Le pipeline DVC rend tout reproductible. Libellé officiel C13 : créer une chaîne de livraison continue d’un modèle d’IA dans une approche MLOps, pour automatiser les étapes de validation, de test, de packaging et de déploiement du modèle.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 Je lance maintenant la vidéo de démonstration. Pendant qu’elle tourne, je commente : on voit d’abord la documentation de l’API et un appel qui renvoie l’indice ; ensuite l’application où l’on saisit des mesures et où s’affiche la catégorie ; enfin le monitoring avec ses métriques et une alerte de dérive déclenchée. Plan B si la vidéo ne se lance pas : je montre les mêmes étapes en direct ou via les captures des diapos précédentes.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Pour conclure : la vraie valeur du projet, ce n’est pas seulement le modèle, c’est toute la chaîne qui le rend fiable et utilisable en production, des compétences C9 à C13. Si je devais continuer, je déploierais la solution dans le cloud et je suivrais ses performances réelles dans le temps.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Voilà, je vous remercie de votre attention. Pour résumer : je n’ai pas seulement entraîné un modèle, j’ai construit toute la chaîne qui le rend fiable et utilisable. Je suis maintenant disponible pour une démonstration en direct et pour répondre à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 y="1828800"/>
            <a:ext cx="914400"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143000"/>
            <a:ext cx="10515600" cy="457200"/>
          </a:xfrm>
          <a:prstGeom prst="rect">
            <a:avLst/>
          </a:prstGeom>
          <a:noFill/>
        </p:spPr>
        <p:txBody>
          <a:bodyPr wrap="square">
            <a:spAutoFit/>
          </a:bodyPr>
          <a:lstStyle/>
          <a:p>
            <a:pPr algn="l"/>
            <a:r>
              <a:rPr sz="1500" b="1">
                <a:solidFill>
                  <a:srgbClr val="93B4F5"/>
                </a:solidFill>
                <a:latin typeface="Calibri"/>
              </a:rPr>
              <a:t>PROJET DE FIN DE FORMATION</a:t>
            </a:r>
          </a:p>
        </p:txBody>
      </p:sp>
      <p:sp>
        <p:nvSpPr>
          <p:cNvPr id="5" name="TextBox 4"/>
          <p:cNvSpPr txBox="1"/>
          <p:nvPr/>
        </p:nvSpPr>
        <p:spPr>
          <a:xfrm>
            <a:off x="822960" y="2148840"/>
            <a:ext cx="10607040" cy="2194560"/>
          </a:xfrm>
          <a:prstGeom prst="rect">
            <a:avLst/>
          </a:prstGeom>
          <a:noFill/>
        </p:spPr>
        <p:txBody>
          <a:bodyPr wrap="square">
            <a:spAutoFit/>
          </a:bodyPr>
          <a:lstStyle/>
          <a:p>
            <a:pPr algn="l">
              <a:lnSpc>
                <a:spcPct val="105000"/>
              </a:lnSpc>
            </a:pPr>
            <a:r>
              <a:rPr sz="4000" b="1">
                <a:solidFill>
                  <a:srgbClr val="FFFFFF"/>
                </a:solidFill>
                <a:latin typeface="Calibri"/>
              </a:rPr>
              <a:t>Prédiction de la qualité de l’air</a:t>
            </a:r>
          </a:p>
          <a:p>
            <a:pPr algn="l">
              <a:lnSpc>
                <a:spcPct val="105000"/>
              </a:lnSpc>
            </a:pPr>
            <a:r>
              <a:rPr sz="4000" b="1">
                <a:solidFill>
                  <a:srgbClr val="FFFFFF"/>
                </a:solidFill>
                <a:latin typeface="Calibri"/>
              </a:rPr>
              <a:t>et mise en production du modèle</a:t>
            </a:r>
          </a:p>
        </p:txBody>
      </p:sp>
      <p:sp>
        <p:nvSpPr>
          <p:cNvPr id="6" name="TextBox 5"/>
          <p:cNvSpPr txBox="1"/>
          <p:nvPr/>
        </p:nvSpPr>
        <p:spPr>
          <a:xfrm>
            <a:off x="868680" y="4434840"/>
            <a:ext cx="10241280" cy="822960"/>
          </a:xfrm>
          <a:prstGeom prst="rect">
            <a:avLst/>
          </a:prstGeom>
          <a:noFill/>
        </p:spPr>
        <p:txBody>
          <a:bodyPr wrap="square">
            <a:spAutoFit/>
          </a:bodyPr>
          <a:lstStyle/>
          <a:p>
            <a:pPr algn="l">
              <a:lnSpc>
                <a:spcPct val="110000"/>
              </a:lnSpc>
            </a:pPr>
            <a:r>
              <a:rPr sz="1800" b="0">
                <a:solidFill>
                  <a:srgbClr val="CBD5E1"/>
                </a:solidFill>
                <a:latin typeface="Calibri"/>
              </a:rPr>
              <a:t>Solution d’intelligence artificielle de bout en bout : modèle, API REST, application, supervision et tests automatisés.</a:t>
            </a:r>
          </a:p>
        </p:txBody>
      </p:sp>
      <p:sp>
        <p:nvSpPr>
          <p:cNvPr id="7" name="TextBox 6"/>
          <p:cNvSpPr txBox="1"/>
          <p:nvPr/>
        </p:nvSpPr>
        <p:spPr>
          <a:xfrm>
            <a:off x="868680" y="5806440"/>
            <a:ext cx="10424160" cy="640080"/>
          </a:xfrm>
          <a:prstGeom prst="rect">
            <a:avLst/>
          </a:prstGeom>
          <a:noFill/>
        </p:spPr>
        <p:txBody>
          <a:bodyPr wrap="square">
            <a:spAutoFit/>
          </a:bodyPr>
          <a:lstStyle/>
          <a:p>
            <a:pPr algn="l"/>
            <a:r>
              <a:rPr sz="1300" b="0">
                <a:solidFill>
                  <a:srgbClr val="94A3B8"/>
                </a:solidFill>
                <a:latin typeface="Calibri"/>
              </a:rPr>
              <a:t>Compétences C9 à C13   ·   Titre Développeur en IA (RNCP)   ·   Marimoun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66928"/>
            <a:ext cx="164592"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10058400" cy="365760"/>
          </a:xfrm>
          <a:prstGeom prst="rect">
            <a:avLst/>
          </a:prstGeom>
          <a:noFill/>
        </p:spPr>
        <p:txBody>
          <a:bodyPr wrap="square">
            <a:spAutoFit/>
          </a:bodyPr>
          <a:lstStyle/>
          <a:p>
            <a:pPr algn="l"/>
            <a:r>
              <a:rPr sz="1300" b="1">
                <a:solidFill>
                  <a:srgbClr val="2563EB"/>
                </a:solidFill>
                <a:latin typeface="Calibri"/>
              </a:rPr>
              <a:t>PLAN</a:t>
            </a:r>
          </a:p>
        </p:txBody>
      </p:sp>
      <p:sp>
        <p:nvSpPr>
          <p:cNvPr id="4" name="TextBox 3"/>
          <p:cNvSpPr txBox="1"/>
          <p:nvPr/>
        </p:nvSpPr>
        <p:spPr>
          <a:xfrm>
            <a:off x="841248" y="868680"/>
            <a:ext cx="10789920" cy="868680"/>
          </a:xfrm>
          <a:prstGeom prst="rect">
            <a:avLst/>
          </a:prstGeom>
          <a:noFill/>
        </p:spPr>
        <p:txBody>
          <a:bodyPr wrap="square">
            <a:spAutoFit/>
          </a:bodyPr>
          <a:lstStyle/>
          <a:p>
            <a:pPr algn="l"/>
            <a:r>
              <a:rPr sz="2800" b="1">
                <a:solidFill>
                  <a:srgbClr val="0F172A"/>
                </a:solidFill>
                <a:latin typeface="Calibri"/>
              </a:rPr>
              <a:t>Déroulé de la présentation (≈ 20 min)</a:t>
            </a:r>
          </a:p>
        </p:txBody>
      </p:sp>
      <p:sp>
        <p:nvSpPr>
          <p:cNvPr id="5" name="TextBox 4"/>
          <p:cNvSpPr txBox="1"/>
          <p:nvPr/>
        </p:nvSpPr>
        <p:spPr>
          <a:xfrm>
            <a:off x="868680" y="1691640"/>
            <a:ext cx="10424160" cy="4480560"/>
          </a:xfrm>
          <a:prstGeom prst="rect">
            <a:avLst/>
          </a:prstGeom>
          <a:noFill/>
        </p:spPr>
        <p:txBody>
          <a:bodyPr wrap="square">
            <a:spAutoFit/>
          </a:bodyPr>
          <a:lstStyle/>
          <a:p>
            <a:pPr>
              <a:spcAft>
                <a:spcPts val="600"/>
              </a:spcAft>
            </a:pPr>
            <a:r>
              <a:rPr sz="1800">
                <a:solidFill>
                  <a:srgbClr val="0F172A"/>
                </a:solidFill>
                <a:latin typeface="Calibri"/>
              </a:rPr>
              <a:t>•  Contexte et données</a:t>
            </a:r>
            <a:r>
              <a:rPr sz="1400">
                <a:solidFill>
                  <a:srgbClr val="2563EB"/>
                </a:solidFill>
                <a:latin typeface="Calibri"/>
              </a:rPr>
              <a:t>      (2 min)</a:t>
            </a:r>
          </a:p>
          <a:p>
            <a:pPr>
              <a:spcAft>
                <a:spcPts val="600"/>
              </a:spcAft>
            </a:pPr>
            <a:r>
              <a:rPr sz="1800">
                <a:solidFill>
                  <a:srgbClr val="0F172A"/>
                </a:solidFill>
                <a:latin typeface="Calibri"/>
              </a:rPr>
              <a:t>•  Solution et résultats</a:t>
            </a:r>
            <a:r>
              <a:rPr sz="1400">
                <a:solidFill>
                  <a:srgbClr val="2563EB"/>
                </a:solidFill>
                <a:latin typeface="Calibri"/>
              </a:rPr>
              <a:t>      (3 min)</a:t>
            </a:r>
          </a:p>
          <a:p>
            <a:pPr>
              <a:spcAft>
                <a:spcPts val="600"/>
              </a:spcAft>
            </a:pPr>
            <a:r>
              <a:rPr sz="1800">
                <a:solidFill>
                  <a:srgbClr val="0F172A"/>
                </a:solidFill>
                <a:latin typeface="Calibri"/>
              </a:rPr>
              <a:t>•  C9 · API REST</a:t>
            </a:r>
            <a:r>
              <a:rPr sz="1400">
                <a:solidFill>
                  <a:srgbClr val="2563EB"/>
                </a:solidFill>
                <a:latin typeface="Calibri"/>
              </a:rPr>
              <a:t>      (2 min)</a:t>
            </a:r>
          </a:p>
          <a:p>
            <a:pPr>
              <a:spcAft>
                <a:spcPts val="600"/>
              </a:spcAft>
            </a:pPr>
            <a:r>
              <a:rPr sz="1800">
                <a:solidFill>
                  <a:srgbClr val="0F172A"/>
                </a:solidFill>
                <a:latin typeface="Calibri"/>
              </a:rPr>
              <a:t>•  C10 · Application</a:t>
            </a:r>
            <a:r>
              <a:rPr sz="1400">
                <a:solidFill>
                  <a:srgbClr val="2563EB"/>
                </a:solidFill>
                <a:latin typeface="Calibri"/>
              </a:rPr>
              <a:t>      (2 min)</a:t>
            </a:r>
          </a:p>
          <a:p>
            <a:pPr>
              <a:spcAft>
                <a:spcPts val="600"/>
              </a:spcAft>
            </a:pPr>
            <a:r>
              <a:rPr sz="1800">
                <a:solidFill>
                  <a:srgbClr val="0F172A"/>
                </a:solidFill>
                <a:latin typeface="Calibri"/>
              </a:rPr>
              <a:t>•  C11 · Monitoring</a:t>
            </a:r>
            <a:r>
              <a:rPr sz="1400">
                <a:solidFill>
                  <a:srgbClr val="2563EB"/>
                </a:solidFill>
                <a:latin typeface="Calibri"/>
              </a:rPr>
              <a:t>      (2 min)</a:t>
            </a:r>
          </a:p>
          <a:p>
            <a:pPr>
              <a:spcAft>
                <a:spcPts val="600"/>
              </a:spcAft>
            </a:pPr>
            <a:r>
              <a:rPr sz="1800">
                <a:solidFill>
                  <a:srgbClr val="0F172A"/>
                </a:solidFill>
                <a:latin typeface="Calibri"/>
              </a:rPr>
              <a:t>•  C12 · Tests automatisés</a:t>
            </a:r>
            <a:r>
              <a:rPr sz="1400">
                <a:solidFill>
                  <a:srgbClr val="2563EB"/>
                </a:solidFill>
                <a:latin typeface="Calibri"/>
              </a:rPr>
              <a:t>      (2 min)</a:t>
            </a:r>
          </a:p>
          <a:p>
            <a:pPr>
              <a:spcAft>
                <a:spcPts val="600"/>
              </a:spcAft>
            </a:pPr>
            <a:r>
              <a:rPr sz="1800">
                <a:solidFill>
                  <a:srgbClr val="0F172A"/>
                </a:solidFill>
                <a:latin typeface="Calibri"/>
              </a:rPr>
              <a:t>•  C13 · Chaîne MLOps</a:t>
            </a:r>
            <a:r>
              <a:rPr sz="1400">
                <a:solidFill>
                  <a:srgbClr val="2563EB"/>
                </a:solidFill>
                <a:latin typeface="Calibri"/>
              </a:rPr>
              <a:t>      (2 min)</a:t>
            </a:r>
          </a:p>
          <a:p>
            <a:pPr>
              <a:spcAft>
                <a:spcPts val="600"/>
              </a:spcAft>
            </a:pPr>
            <a:r>
              <a:rPr sz="1800">
                <a:solidFill>
                  <a:srgbClr val="0F172A"/>
                </a:solidFill>
                <a:latin typeface="Calibri"/>
              </a:rPr>
              <a:t>•  Démonstration (vidéo)</a:t>
            </a:r>
            <a:r>
              <a:rPr sz="1400">
                <a:solidFill>
                  <a:srgbClr val="2563EB"/>
                </a:solidFill>
                <a:latin typeface="Calibri"/>
              </a:rPr>
              <a:t>      (3 min)</a:t>
            </a:r>
          </a:p>
          <a:p>
            <a:pPr>
              <a:spcAft>
                <a:spcPts val="600"/>
              </a:spcAft>
            </a:pPr>
            <a:r>
              <a:rPr sz="1800">
                <a:solidFill>
                  <a:srgbClr val="0F172A"/>
                </a:solidFill>
                <a:latin typeface="Calibri"/>
              </a:rPr>
              <a:t>•  Conclusion et questions</a:t>
            </a:r>
            <a:r>
              <a:rPr sz="1400">
                <a:solidFill>
                  <a:srgbClr val="2563EB"/>
                </a:solidFill>
                <a:latin typeface="Calibri"/>
              </a:rPr>
              <a:t>      (2 min)</a:t>
            </a:r>
          </a:p>
        </p:txBody>
      </p:sp>
      <p:sp>
        <p:nvSpPr>
          <p:cNvPr id="6" name="Rectangle 5"/>
          <p:cNvSpPr/>
          <p:nvPr/>
        </p:nvSpPr>
        <p:spPr>
          <a:xfrm>
            <a:off x="548640" y="6437376"/>
            <a:ext cx="256032"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6291072"/>
            <a:ext cx="6400800" cy="365760"/>
          </a:xfrm>
          <a:prstGeom prst="rect">
            <a:avLst/>
          </a:prstGeom>
          <a:noFill/>
        </p:spPr>
        <p:txBody>
          <a:bodyPr wrap="square">
            <a:spAutoFit/>
          </a:bodyPr>
          <a:lstStyle/>
          <a:p>
            <a:pPr algn="l"/>
            <a:r>
              <a:rPr sz="1000" b="0">
                <a:solidFill>
                  <a:srgbClr val="94A3B8"/>
                </a:solidFill>
                <a:latin typeface="Calibri"/>
              </a:rPr>
              <a:t>Qualité de l’air  ·  Prédiction de l’AQI</a:t>
            </a:r>
          </a:p>
        </p:txBody>
      </p:sp>
      <p:sp>
        <p:nvSpPr>
          <p:cNvPr id="8" name="TextBox 7"/>
          <p:cNvSpPr txBox="1"/>
          <p:nvPr/>
        </p:nvSpPr>
        <p:spPr>
          <a:xfrm>
            <a:off x="10241280" y="6291072"/>
            <a:ext cx="1371600" cy="365760"/>
          </a:xfrm>
          <a:prstGeom prst="rect">
            <a:avLst/>
          </a:prstGeom>
          <a:noFill/>
        </p:spPr>
        <p:txBody>
          <a:bodyPr wrap="square">
            <a:spAutoFit/>
          </a:bodyPr>
          <a:lstStyle/>
          <a:p>
            <a:pPr algn="r"/>
            <a:r>
              <a:rPr sz="1000" b="0">
                <a:solidFill>
                  <a:srgbClr val="94A3B8"/>
                </a:solidFill>
                <a:latin typeface="Calibri"/>
              </a:rPr>
              <a:t>02 / 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66928"/>
            <a:ext cx="164592"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10058400" cy="365760"/>
          </a:xfrm>
          <a:prstGeom prst="rect">
            <a:avLst/>
          </a:prstGeom>
          <a:noFill/>
        </p:spPr>
        <p:txBody>
          <a:bodyPr wrap="square">
            <a:spAutoFit/>
          </a:bodyPr>
          <a:lstStyle/>
          <a:p>
            <a:pPr algn="l"/>
            <a:r>
              <a:rPr sz="1300" b="1">
                <a:solidFill>
                  <a:srgbClr val="2563EB"/>
                </a:solidFill>
                <a:latin typeface="Calibri"/>
              </a:rPr>
              <a:t>CONTEXTE</a:t>
            </a:r>
          </a:p>
        </p:txBody>
      </p:sp>
      <p:sp>
        <p:nvSpPr>
          <p:cNvPr id="4" name="TextBox 3"/>
          <p:cNvSpPr txBox="1"/>
          <p:nvPr/>
        </p:nvSpPr>
        <p:spPr>
          <a:xfrm>
            <a:off x="841248" y="868680"/>
            <a:ext cx="10789920" cy="868680"/>
          </a:xfrm>
          <a:prstGeom prst="rect">
            <a:avLst/>
          </a:prstGeom>
          <a:noFill/>
        </p:spPr>
        <p:txBody>
          <a:bodyPr wrap="square">
            <a:spAutoFit/>
          </a:bodyPr>
          <a:lstStyle/>
          <a:p>
            <a:pPr algn="l"/>
            <a:r>
              <a:rPr sz="2800" b="1">
                <a:solidFill>
                  <a:srgbClr val="0F172A"/>
                </a:solidFill>
                <a:latin typeface="Calibri"/>
              </a:rPr>
              <a:t>Problématique et données</a:t>
            </a:r>
          </a:p>
        </p:txBody>
      </p:sp>
      <p:sp>
        <p:nvSpPr>
          <p:cNvPr id="5" name="TextBox 4"/>
          <p:cNvSpPr txBox="1"/>
          <p:nvPr/>
        </p:nvSpPr>
        <p:spPr>
          <a:xfrm>
            <a:off x="868680" y="1783080"/>
            <a:ext cx="6400800" cy="3108960"/>
          </a:xfrm>
          <a:prstGeom prst="rect">
            <a:avLst/>
          </a:prstGeom>
          <a:noFill/>
        </p:spPr>
        <p:txBody>
          <a:bodyPr wrap="square">
            <a:spAutoFit/>
          </a:bodyPr>
          <a:lstStyle/>
          <a:p>
            <a:pPr algn="l">
              <a:lnSpc>
                <a:spcPct val="106000"/>
              </a:lnSpc>
            </a:pPr>
            <a:r>
              <a:rPr sz="1800" b="1">
                <a:solidFill>
                  <a:srgbClr val="0F172A"/>
                </a:solidFill>
                <a:latin typeface="Calibri"/>
              </a:rPr>
              <a:t>Objectif : estimer l’indice de qualité de l’air (AQI) à partir de capteurs.</a:t>
            </a:r>
          </a:p>
          <a:p>
            <a:pPr algn="l">
              <a:lnSpc>
                <a:spcPct val="106000"/>
              </a:lnSpc>
            </a:pPr>
            <a:r>
              <a:rPr sz="1600" b="0">
                <a:solidFill>
                  <a:srgbClr val="475569"/>
                </a:solidFill>
                <a:latin typeface="Calibri"/>
              </a:rPr>
              <a:t>Jeu de données : 4 000 observations horaires (polluants et météo).</a:t>
            </a:r>
          </a:p>
          <a:p>
            <a:pPr algn="l">
              <a:lnSpc>
                <a:spcPct val="106000"/>
              </a:lnSpc>
            </a:pPr>
          </a:p>
          <a:p>
            <a:pPr algn="l">
              <a:lnSpc>
                <a:spcPct val="106000"/>
              </a:lnSpc>
            </a:pPr>
            <a:r>
              <a:rPr sz="1800" b="1">
                <a:solidFill>
                  <a:srgbClr val="0F172A"/>
                </a:solidFill>
                <a:latin typeface="Calibri"/>
              </a:rPr>
              <a:t>Constat : la cible fournie est décorrélée des variables (|r| &lt; 0,04).</a:t>
            </a:r>
          </a:p>
          <a:p>
            <a:pPr algn="l">
              <a:lnSpc>
                <a:spcPct val="106000"/>
              </a:lnSpc>
            </a:pPr>
            <a:r>
              <a:rPr sz="1600" b="0">
                <a:solidFill>
                  <a:srgbClr val="475569"/>
                </a:solidFill>
                <a:latin typeface="Calibri"/>
              </a:rPr>
              <a:t>Conséquence : R² négatif pour tous les modèles testés.</a:t>
            </a:r>
          </a:p>
        </p:txBody>
      </p:sp>
      <p:sp>
        <p:nvSpPr>
          <p:cNvPr id="6" name="Rounded Rectangle 5"/>
          <p:cNvSpPr/>
          <p:nvPr/>
        </p:nvSpPr>
        <p:spPr>
          <a:xfrm>
            <a:off x="7772400" y="1828800"/>
            <a:ext cx="3657600" cy="274320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0" y="2240280"/>
            <a:ext cx="3657600" cy="1371600"/>
          </a:xfrm>
          <a:prstGeom prst="rect">
            <a:avLst/>
          </a:prstGeom>
          <a:noFill/>
        </p:spPr>
        <p:txBody>
          <a:bodyPr wrap="square">
            <a:spAutoFit/>
          </a:bodyPr>
          <a:lstStyle/>
          <a:p>
            <a:pPr algn="ctr"/>
            <a:r>
              <a:rPr sz="5400" b="1">
                <a:solidFill>
                  <a:srgbClr val="2563EB"/>
                </a:solidFill>
                <a:latin typeface="Calibri"/>
              </a:rPr>
              <a:t>&lt; 0,04</a:t>
            </a:r>
          </a:p>
        </p:txBody>
      </p:sp>
      <p:sp>
        <p:nvSpPr>
          <p:cNvPr id="8" name="TextBox 7"/>
          <p:cNvSpPr txBox="1"/>
          <p:nvPr/>
        </p:nvSpPr>
        <p:spPr>
          <a:xfrm>
            <a:off x="7772400" y="3611880"/>
            <a:ext cx="3657600" cy="822960"/>
          </a:xfrm>
          <a:prstGeom prst="rect">
            <a:avLst/>
          </a:prstGeom>
          <a:noFill/>
        </p:spPr>
        <p:txBody>
          <a:bodyPr wrap="square">
            <a:spAutoFit/>
          </a:bodyPr>
          <a:lstStyle/>
          <a:p>
            <a:pPr algn="ctr"/>
            <a:r>
              <a:rPr sz="1400" b="0">
                <a:solidFill>
                  <a:srgbClr val="475569"/>
                </a:solidFill>
                <a:latin typeface="Calibri"/>
              </a:rPr>
              <a:t>corrélation maximale</a:t>
            </a:r>
            <a:br/>
            <a:r>
              <a:t>cible / variables</a:t>
            </a:r>
          </a:p>
        </p:txBody>
      </p:sp>
      <p:sp>
        <p:nvSpPr>
          <p:cNvPr id="9" name="Rectangle 8"/>
          <p:cNvSpPr/>
          <p:nvPr/>
        </p:nvSpPr>
        <p:spPr>
          <a:xfrm>
            <a:off x="868680" y="5212080"/>
            <a:ext cx="64008"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193792"/>
            <a:ext cx="10241280" cy="822960"/>
          </a:xfrm>
          <a:prstGeom prst="rect">
            <a:avLst/>
          </a:prstGeom>
          <a:noFill/>
        </p:spPr>
        <p:txBody>
          <a:bodyPr wrap="square">
            <a:spAutoFit/>
          </a:bodyPr>
          <a:lstStyle/>
          <a:p>
            <a:pPr algn="l"/>
            <a:r>
              <a:rPr sz="1100" b="1">
                <a:solidFill>
                  <a:srgbClr val="2563EB"/>
                </a:solidFill>
                <a:latin typeface="Calibri"/>
              </a:rPr>
              <a:t>À RETENIR</a:t>
            </a:r>
          </a:p>
          <a:p>
            <a:pPr algn="l"/>
            <a:r>
              <a:rPr sz="1500" b="0">
                <a:solidFill>
                  <a:srgbClr val="475569"/>
                </a:solidFill>
                <a:latin typeface="Calibri"/>
              </a:rPr>
              <a:t>Une cible décorrélée des variables est, par construction, non apprenable.</a:t>
            </a:r>
          </a:p>
        </p:txBody>
      </p:sp>
      <p:sp>
        <p:nvSpPr>
          <p:cNvPr id="11" name="Rectangle 10"/>
          <p:cNvSpPr/>
          <p:nvPr/>
        </p:nvSpPr>
        <p:spPr>
          <a:xfrm>
            <a:off x="548640" y="6437376"/>
            <a:ext cx="256032"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6291072"/>
            <a:ext cx="6400800" cy="365760"/>
          </a:xfrm>
          <a:prstGeom prst="rect">
            <a:avLst/>
          </a:prstGeom>
          <a:noFill/>
        </p:spPr>
        <p:txBody>
          <a:bodyPr wrap="square">
            <a:spAutoFit/>
          </a:bodyPr>
          <a:lstStyle/>
          <a:p>
            <a:pPr algn="l"/>
            <a:r>
              <a:rPr sz="1000" b="0">
                <a:solidFill>
                  <a:srgbClr val="94A3B8"/>
                </a:solidFill>
                <a:latin typeface="Calibri"/>
              </a:rPr>
              <a:t>Qualité de l’air  ·  Prédiction de l’AQI</a:t>
            </a:r>
          </a:p>
        </p:txBody>
      </p:sp>
      <p:sp>
        <p:nvSpPr>
          <p:cNvPr id="13" name="TextBox 12"/>
          <p:cNvSpPr txBox="1"/>
          <p:nvPr/>
        </p:nvSpPr>
        <p:spPr>
          <a:xfrm>
            <a:off x="10241280" y="6291072"/>
            <a:ext cx="1371600" cy="365760"/>
          </a:xfrm>
          <a:prstGeom prst="rect">
            <a:avLst/>
          </a:prstGeom>
          <a:noFill/>
        </p:spPr>
        <p:txBody>
          <a:bodyPr wrap="square">
            <a:spAutoFit/>
          </a:bodyPr>
          <a:lstStyle/>
          <a:p>
            <a:pPr algn="r"/>
            <a:r>
              <a:rPr sz="1000" b="0">
                <a:solidFill>
                  <a:srgbClr val="94A3B8"/>
                </a:solidFill>
                <a:latin typeface="Calibri"/>
              </a:rPr>
              <a:t>03 / 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66928"/>
            <a:ext cx="164592"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10058400" cy="365760"/>
          </a:xfrm>
          <a:prstGeom prst="rect">
            <a:avLst/>
          </a:prstGeom>
          <a:noFill/>
        </p:spPr>
        <p:txBody>
          <a:bodyPr wrap="square">
            <a:spAutoFit/>
          </a:bodyPr>
          <a:lstStyle/>
          <a:p>
            <a:pPr algn="l"/>
            <a:r>
              <a:rPr sz="1300" b="1">
                <a:solidFill>
                  <a:srgbClr val="2563EB"/>
                </a:solidFill>
                <a:latin typeface="Calibri"/>
              </a:rPr>
              <a:t>DÉMARCHE · SOLUTION</a:t>
            </a:r>
          </a:p>
        </p:txBody>
      </p:sp>
      <p:sp>
        <p:nvSpPr>
          <p:cNvPr id="4" name="TextBox 3"/>
          <p:cNvSpPr txBox="1"/>
          <p:nvPr/>
        </p:nvSpPr>
        <p:spPr>
          <a:xfrm>
            <a:off x="841248" y="868680"/>
            <a:ext cx="10789920" cy="868680"/>
          </a:xfrm>
          <a:prstGeom prst="rect">
            <a:avLst/>
          </a:prstGeom>
          <a:noFill/>
        </p:spPr>
        <p:txBody>
          <a:bodyPr wrap="square">
            <a:spAutoFit/>
          </a:bodyPr>
          <a:lstStyle/>
          <a:p>
            <a:pPr algn="l"/>
            <a:r>
              <a:rPr sz="2800" b="1">
                <a:solidFill>
                  <a:srgbClr val="0F172A"/>
                </a:solidFill>
                <a:latin typeface="Calibri"/>
              </a:rPr>
              <a:t>Cible recalculée et variables du modèle</a:t>
            </a:r>
          </a:p>
        </p:txBody>
      </p:sp>
      <p:sp>
        <p:nvSpPr>
          <p:cNvPr id="5" name="TextBox 4"/>
          <p:cNvSpPr txBox="1"/>
          <p:nvPr/>
        </p:nvSpPr>
        <p:spPr>
          <a:xfrm>
            <a:off x="822960" y="1645920"/>
            <a:ext cx="6126480" cy="868680"/>
          </a:xfrm>
          <a:prstGeom prst="rect">
            <a:avLst/>
          </a:prstGeom>
          <a:noFill/>
        </p:spPr>
        <p:txBody>
          <a:bodyPr wrap="square">
            <a:spAutoFit/>
          </a:bodyPr>
          <a:lstStyle/>
          <a:p>
            <a:pPr algn="l">
              <a:lnSpc>
                <a:spcPct val="105000"/>
              </a:lnSpc>
            </a:pPr>
            <a:r>
              <a:rPr sz="1500" b="1">
                <a:solidFill>
                  <a:srgbClr val="0F172A"/>
                </a:solidFill>
                <a:latin typeface="Calibri"/>
              </a:rPr>
              <a:t>Cible : indice EPA, fonction déterministe des concentrations de polluants (en remplacement de la colonne bruitée).</a:t>
            </a:r>
          </a:p>
        </p:txBody>
      </p:sp>
      <p:sp>
        <p:nvSpPr>
          <p:cNvPr id="6" name="TextBox 5"/>
          <p:cNvSpPr txBox="1"/>
          <p:nvPr/>
        </p:nvSpPr>
        <p:spPr>
          <a:xfrm>
            <a:off x="822960" y="2606040"/>
            <a:ext cx="6126480" cy="365760"/>
          </a:xfrm>
          <a:prstGeom prst="rect">
            <a:avLst/>
          </a:prstGeom>
          <a:noFill/>
        </p:spPr>
        <p:txBody>
          <a:bodyPr wrap="square">
            <a:spAutoFit/>
          </a:bodyPr>
          <a:lstStyle/>
          <a:p>
            <a:pPr algn="l"/>
            <a:r>
              <a:rPr sz="1500" b="1">
                <a:solidFill>
                  <a:srgbClr val="2563EB"/>
                </a:solidFill>
                <a:latin typeface="Calibri"/>
              </a:rPr>
              <a:t>Variables explicatives : 30 caractéristiques</a:t>
            </a:r>
          </a:p>
        </p:txBody>
      </p:sp>
      <p:sp>
        <p:nvSpPr>
          <p:cNvPr id="7" name="TextBox 6"/>
          <p:cNvSpPr txBox="1"/>
          <p:nvPr/>
        </p:nvSpPr>
        <p:spPr>
          <a:xfrm>
            <a:off x="822960" y="3017520"/>
            <a:ext cx="6126480" cy="3017520"/>
          </a:xfrm>
          <a:prstGeom prst="rect">
            <a:avLst/>
          </a:prstGeom>
          <a:noFill/>
        </p:spPr>
        <p:txBody>
          <a:bodyPr wrap="square">
            <a:spAutoFit/>
          </a:bodyPr>
          <a:lstStyle/>
          <a:p>
            <a:pPr>
              <a:spcAft>
                <a:spcPts val="700"/>
              </a:spcAft>
            </a:pPr>
            <a:r>
              <a:rPr sz="1300">
                <a:solidFill>
                  <a:srgbClr val="475569"/>
                </a:solidFill>
                <a:latin typeface="Calibri"/>
              </a:rPr>
              <a:t>•  Polluants (7) : CO, NOx, NO2, O3, SO2, PM2.5, PM10</a:t>
            </a:r>
          </a:p>
          <a:p>
            <a:pPr>
              <a:spcAft>
                <a:spcPts val="700"/>
              </a:spcAft>
            </a:pPr>
            <a:r>
              <a:rPr sz="1300">
                <a:solidFill>
                  <a:srgbClr val="475569"/>
                </a:solidFill>
                <a:latin typeface="Calibri"/>
              </a:rPr>
              <a:t>•  Météo (5) : température, humidité, pression, vent (vitesse, direction)</a:t>
            </a:r>
          </a:p>
          <a:p>
            <a:pPr>
              <a:spcAft>
                <a:spcPts val="700"/>
              </a:spcAft>
            </a:pPr>
            <a:r>
              <a:rPr sz="1300">
                <a:solidFill>
                  <a:srgbClr val="475569"/>
                </a:solidFill>
                <a:latin typeface="Calibri"/>
              </a:rPr>
              <a:t>•  Dérivées (6) : ratios CO/NOx et NOx/NO2, moyennes mobiles, indice T-H</a:t>
            </a:r>
          </a:p>
          <a:p>
            <a:pPr>
              <a:spcAft>
                <a:spcPts val="700"/>
              </a:spcAft>
            </a:pPr>
            <a:r>
              <a:rPr sz="1300">
                <a:solidFill>
                  <a:srgbClr val="475569"/>
                </a:solidFill>
                <a:latin typeface="Calibri"/>
              </a:rPr>
              <a:t>•  Temporelles : heure, jour, mois, saison + encodages cycliques sin/cos</a:t>
            </a:r>
          </a:p>
          <a:p>
            <a:pPr>
              <a:spcAft>
                <a:spcPts val="700"/>
              </a:spcAft>
            </a:pPr>
            <a:r>
              <a:rPr sz="1300">
                <a:solidFill>
                  <a:srgbClr val="475569"/>
                </a:solidFill>
                <a:latin typeface="Calibri"/>
              </a:rPr>
              <a:t>•  Interactions (2) : PM2.5 × Température, O3 × Humidité</a:t>
            </a:r>
          </a:p>
        </p:txBody>
      </p:sp>
      <p:sp>
        <p:nvSpPr>
          <p:cNvPr id="8" name="Rounded Rectangle 7"/>
          <p:cNvSpPr/>
          <p:nvPr/>
        </p:nvSpPr>
        <p:spPr>
          <a:xfrm>
            <a:off x="7132320" y="1783080"/>
            <a:ext cx="4480560" cy="411480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eature_importance.png"/>
          <p:cNvPicPr>
            <a:picLocks noChangeAspect="1"/>
          </p:cNvPicPr>
          <p:nvPr/>
        </p:nvPicPr>
        <p:blipFill>
          <a:blip r:embed="rId2"/>
          <a:stretch>
            <a:fillRect/>
          </a:stretch>
        </p:blipFill>
        <p:spPr>
          <a:xfrm>
            <a:off x="7296912" y="2061319"/>
            <a:ext cx="4151376" cy="3558322"/>
          </a:xfrm>
          <a:prstGeom prst="rect">
            <a:avLst/>
          </a:prstGeom>
        </p:spPr>
      </p:pic>
      <p:sp>
        <p:nvSpPr>
          <p:cNvPr id="10" name="TextBox 9"/>
          <p:cNvSpPr txBox="1"/>
          <p:nvPr/>
        </p:nvSpPr>
        <p:spPr>
          <a:xfrm>
            <a:off x="7132320" y="5943600"/>
            <a:ext cx="4480560" cy="274320"/>
          </a:xfrm>
          <a:prstGeom prst="rect">
            <a:avLst/>
          </a:prstGeom>
          <a:noFill/>
        </p:spPr>
        <p:txBody>
          <a:bodyPr wrap="square">
            <a:spAutoFit/>
          </a:bodyPr>
          <a:lstStyle/>
          <a:p>
            <a:pPr algn="ctr"/>
            <a:r>
              <a:rPr sz="1100" b="0">
                <a:solidFill>
                  <a:srgbClr val="94A3B8"/>
                </a:solidFill>
                <a:latin typeface="Calibri"/>
              </a:rPr>
              <a:t>Importance des variables : O3, PM2.5 et PM10 dominent</a:t>
            </a:r>
          </a:p>
        </p:txBody>
      </p:sp>
      <p:sp>
        <p:nvSpPr>
          <p:cNvPr id="11" name="Rectangle 10"/>
          <p:cNvSpPr/>
          <p:nvPr/>
        </p:nvSpPr>
        <p:spPr>
          <a:xfrm>
            <a:off x="548640" y="6437376"/>
            <a:ext cx="256032"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6291072"/>
            <a:ext cx="6400800" cy="365760"/>
          </a:xfrm>
          <a:prstGeom prst="rect">
            <a:avLst/>
          </a:prstGeom>
          <a:noFill/>
        </p:spPr>
        <p:txBody>
          <a:bodyPr wrap="square">
            <a:spAutoFit/>
          </a:bodyPr>
          <a:lstStyle/>
          <a:p>
            <a:pPr algn="l"/>
            <a:r>
              <a:rPr sz="1000" b="0">
                <a:solidFill>
                  <a:srgbClr val="94A3B8"/>
                </a:solidFill>
                <a:latin typeface="Calibri"/>
              </a:rPr>
              <a:t>Qualité de l’air  ·  Prédiction de l’AQI</a:t>
            </a:r>
          </a:p>
        </p:txBody>
      </p:sp>
      <p:sp>
        <p:nvSpPr>
          <p:cNvPr id="13" name="TextBox 12"/>
          <p:cNvSpPr txBox="1"/>
          <p:nvPr/>
        </p:nvSpPr>
        <p:spPr>
          <a:xfrm>
            <a:off x="10241280" y="6291072"/>
            <a:ext cx="1371600" cy="365760"/>
          </a:xfrm>
          <a:prstGeom prst="rect">
            <a:avLst/>
          </a:prstGeom>
          <a:noFill/>
        </p:spPr>
        <p:txBody>
          <a:bodyPr wrap="square">
            <a:spAutoFit/>
          </a:bodyPr>
          <a:lstStyle/>
          <a:p>
            <a:pPr algn="r"/>
            <a:r>
              <a:rPr sz="1000" b="0">
                <a:solidFill>
                  <a:srgbClr val="94A3B8"/>
                </a:solidFill>
                <a:latin typeface="Calibri"/>
              </a:rPr>
              <a:t>04 / 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66928"/>
            <a:ext cx="164592"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10058400" cy="365760"/>
          </a:xfrm>
          <a:prstGeom prst="rect">
            <a:avLst/>
          </a:prstGeom>
          <a:noFill/>
        </p:spPr>
        <p:txBody>
          <a:bodyPr wrap="square">
            <a:spAutoFit/>
          </a:bodyPr>
          <a:lstStyle/>
          <a:p>
            <a:pPr algn="l"/>
            <a:r>
              <a:rPr sz="1300" b="1">
                <a:solidFill>
                  <a:srgbClr val="2563EB"/>
                </a:solidFill>
                <a:latin typeface="Calibri"/>
              </a:rPr>
              <a:t>RÉSULTATS</a:t>
            </a:r>
          </a:p>
        </p:txBody>
      </p:sp>
      <p:sp>
        <p:nvSpPr>
          <p:cNvPr id="4" name="TextBox 3"/>
          <p:cNvSpPr txBox="1"/>
          <p:nvPr/>
        </p:nvSpPr>
        <p:spPr>
          <a:xfrm>
            <a:off x="841248" y="868680"/>
            <a:ext cx="10789920" cy="868680"/>
          </a:xfrm>
          <a:prstGeom prst="rect">
            <a:avLst/>
          </a:prstGeom>
          <a:noFill/>
        </p:spPr>
        <p:txBody>
          <a:bodyPr wrap="square">
            <a:spAutoFit/>
          </a:bodyPr>
          <a:lstStyle/>
          <a:p>
            <a:pPr algn="l"/>
            <a:r>
              <a:rPr sz="2800" b="1">
                <a:solidFill>
                  <a:srgbClr val="0F172A"/>
                </a:solidFill>
                <a:latin typeface="Calibri"/>
              </a:rPr>
              <a:t>Trois indicateurs clés</a:t>
            </a:r>
          </a:p>
        </p:txBody>
      </p:sp>
      <p:sp>
        <p:nvSpPr>
          <p:cNvPr id="5" name="Rounded Rectangle 4"/>
          <p:cNvSpPr/>
          <p:nvPr/>
        </p:nvSpPr>
        <p:spPr>
          <a:xfrm>
            <a:off x="822960" y="2103120"/>
            <a:ext cx="3383280" cy="274320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377440"/>
            <a:ext cx="3383280" cy="1188720"/>
          </a:xfrm>
          <a:prstGeom prst="rect">
            <a:avLst/>
          </a:prstGeom>
          <a:noFill/>
        </p:spPr>
        <p:txBody>
          <a:bodyPr wrap="square">
            <a:spAutoFit/>
          </a:bodyPr>
          <a:lstStyle/>
          <a:p>
            <a:pPr algn="ctr"/>
            <a:r>
              <a:rPr sz="4600" b="1">
                <a:solidFill>
                  <a:srgbClr val="2563EB"/>
                </a:solidFill>
                <a:latin typeface="Calibri"/>
              </a:rPr>
              <a:t>0,999</a:t>
            </a:r>
          </a:p>
        </p:txBody>
      </p:sp>
      <p:sp>
        <p:nvSpPr>
          <p:cNvPr id="7" name="TextBox 6"/>
          <p:cNvSpPr txBox="1"/>
          <p:nvPr/>
        </p:nvSpPr>
        <p:spPr>
          <a:xfrm>
            <a:off x="822960" y="3611880"/>
            <a:ext cx="3383280" cy="457200"/>
          </a:xfrm>
          <a:prstGeom prst="rect">
            <a:avLst/>
          </a:prstGeom>
          <a:noFill/>
        </p:spPr>
        <p:txBody>
          <a:bodyPr wrap="square">
            <a:spAutoFit/>
          </a:bodyPr>
          <a:lstStyle/>
          <a:p>
            <a:pPr algn="ctr"/>
            <a:r>
              <a:rPr sz="1600" b="1">
                <a:solidFill>
                  <a:srgbClr val="0F172A"/>
                </a:solidFill>
                <a:latin typeface="Calibri"/>
              </a:rPr>
              <a:t>R² (jeu de test)</a:t>
            </a:r>
          </a:p>
        </p:txBody>
      </p:sp>
      <p:sp>
        <p:nvSpPr>
          <p:cNvPr id="8" name="TextBox 7"/>
          <p:cNvSpPr txBox="1"/>
          <p:nvPr/>
        </p:nvSpPr>
        <p:spPr>
          <a:xfrm>
            <a:off x="822960" y="4114800"/>
            <a:ext cx="3383280" cy="640080"/>
          </a:xfrm>
          <a:prstGeom prst="rect">
            <a:avLst/>
          </a:prstGeom>
          <a:noFill/>
        </p:spPr>
        <p:txBody>
          <a:bodyPr wrap="square">
            <a:spAutoFit/>
          </a:bodyPr>
          <a:lstStyle/>
          <a:p>
            <a:pPr algn="ctr"/>
            <a:r>
              <a:rPr sz="1300" b="0">
                <a:solidFill>
                  <a:srgbClr val="475569"/>
                </a:solidFill>
                <a:latin typeface="Calibri"/>
              </a:rPr>
              <a:t>ajustement quasi parfait</a:t>
            </a:r>
          </a:p>
        </p:txBody>
      </p:sp>
      <p:sp>
        <p:nvSpPr>
          <p:cNvPr id="9" name="Rounded Rectangle 8"/>
          <p:cNvSpPr/>
          <p:nvPr/>
        </p:nvSpPr>
        <p:spPr>
          <a:xfrm>
            <a:off x="4480560" y="2103120"/>
            <a:ext cx="3383280" cy="274320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2377440"/>
            <a:ext cx="3383280" cy="1188720"/>
          </a:xfrm>
          <a:prstGeom prst="rect">
            <a:avLst/>
          </a:prstGeom>
          <a:noFill/>
        </p:spPr>
        <p:txBody>
          <a:bodyPr wrap="square">
            <a:spAutoFit/>
          </a:bodyPr>
          <a:lstStyle/>
          <a:p>
            <a:pPr algn="ctr"/>
            <a:r>
              <a:rPr sz="4600" b="1">
                <a:solidFill>
                  <a:srgbClr val="2563EB"/>
                </a:solidFill>
                <a:latin typeface="Calibri"/>
              </a:rPr>
              <a:t>33</a:t>
            </a:r>
          </a:p>
        </p:txBody>
      </p:sp>
      <p:sp>
        <p:nvSpPr>
          <p:cNvPr id="11" name="TextBox 10"/>
          <p:cNvSpPr txBox="1"/>
          <p:nvPr/>
        </p:nvSpPr>
        <p:spPr>
          <a:xfrm>
            <a:off x="4480560" y="3611880"/>
            <a:ext cx="3383280" cy="457200"/>
          </a:xfrm>
          <a:prstGeom prst="rect">
            <a:avLst/>
          </a:prstGeom>
          <a:noFill/>
        </p:spPr>
        <p:txBody>
          <a:bodyPr wrap="square">
            <a:spAutoFit/>
          </a:bodyPr>
          <a:lstStyle/>
          <a:p>
            <a:pPr algn="ctr"/>
            <a:r>
              <a:rPr sz="1600" b="1">
                <a:solidFill>
                  <a:srgbClr val="0F172A"/>
                </a:solidFill>
                <a:latin typeface="Calibri"/>
              </a:rPr>
              <a:t>tests automatisés</a:t>
            </a:r>
          </a:p>
        </p:txBody>
      </p:sp>
      <p:sp>
        <p:nvSpPr>
          <p:cNvPr id="12" name="TextBox 11"/>
          <p:cNvSpPr txBox="1"/>
          <p:nvPr/>
        </p:nvSpPr>
        <p:spPr>
          <a:xfrm>
            <a:off x="4480560" y="4114800"/>
            <a:ext cx="3383280" cy="640080"/>
          </a:xfrm>
          <a:prstGeom prst="rect">
            <a:avLst/>
          </a:prstGeom>
          <a:noFill/>
        </p:spPr>
        <p:txBody>
          <a:bodyPr wrap="square">
            <a:spAutoFit/>
          </a:bodyPr>
          <a:lstStyle/>
          <a:p>
            <a:pPr algn="ctr"/>
            <a:r>
              <a:rPr sz="1300" b="0">
                <a:solidFill>
                  <a:srgbClr val="475569"/>
                </a:solidFill>
                <a:latin typeface="Calibri"/>
              </a:rPr>
              <a:t>rejoués en intégration continue</a:t>
            </a:r>
          </a:p>
        </p:txBody>
      </p:sp>
      <p:sp>
        <p:nvSpPr>
          <p:cNvPr id="13" name="Rounded Rectangle 12"/>
          <p:cNvSpPr/>
          <p:nvPr/>
        </p:nvSpPr>
        <p:spPr>
          <a:xfrm>
            <a:off x="8138160" y="2103120"/>
            <a:ext cx="3383280" cy="274320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2377440"/>
            <a:ext cx="3383280" cy="1188720"/>
          </a:xfrm>
          <a:prstGeom prst="rect">
            <a:avLst/>
          </a:prstGeom>
          <a:noFill/>
        </p:spPr>
        <p:txBody>
          <a:bodyPr wrap="square">
            <a:spAutoFit/>
          </a:bodyPr>
          <a:lstStyle/>
          <a:p>
            <a:pPr algn="ctr"/>
            <a:r>
              <a:rPr sz="4600" b="1">
                <a:solidFill>
                  <a:srgbClr val="2563EB"/>
                </a:solidFill>
                <a:latin typeface="Calibri"/>
              </a:rPr>
              <a:t>C9–C13</a:t>
            </a:r>
          </a:p>
        </p:txBody>
      </p:sp>
      <p:sp>
        <p:nvSpPr>
          <p:cNvPr id="15" name="TextBox 14"/>
          <p:cNvSpPr txBox="1"/>
          <p:nvPr/>
        </p:nvSpPr>
        <p:spPr>
          <a:xfrm>
            <a:off x="8138160" y="3611880"/>
            <a:ext cx="3383280" cy="457200"/>
          </a:xfrm>
          <a:prstGeom prst="rect">
            <a:avLst/>
          </a:prstGeom>
          <a:noFill/>
        </p:spPr>
        <p:txBody>
          <a:bodyPr wrap="square">
            <a:spAutoFit/>
          </a:bodyPr>
          <a:lstStyle/>
          <a:p>
            <a:pPr algn="ctr"/>
            <a:r>
              <a:rPr sz="1600" b="1">
                <a:solidFill>
                  <a:srgbClr val="0F172A"/>
                </a:solidFill>
                <a:latin typeface="Calibri"/>
              </a:rPr>
              <a:t>compétences couvertes</a:t>
            </a:r>
          </a:p>
        </p:txBody>
      </p:sp>
      <p:sp>
        <p:nvSpPr>
          <p:cNvPr id="16" name="TextBox 15"/>
          <p:cNvSpPr txBox="1"/>
          <p:nvPr/>
        </p:nvSpPr>
        <p:spPr>
          <a:xfrm>
            <a:off x="8138160" y="4114800"/>
            <a:ext cx="3383280" cy="640080"/>
          </a:xfrm>
          <a:prstGeom prst="rect">
            <a:avLst/>
          </a:prstGeom>
          <a:noFill/>
        </p:spPr>
        <p:txBody>
          <a:bodyPr wrap="square">
            <a:spAutoFit/>
          </a:bodyPr>
          <a:lstStyle/>
          <a:p>
            <a:pPr algn="ctr"/>
            <a:r>
              <a:rPr sz="1300" b="0">
                <a:solidFill>
                  <a:srgbClr val="475569"/>
                </a:solidFill>
                <a:latin typeface="Calibri"/>
              </a:rPr>
              <a:t>de l’API à la mise en production</a:t>
            </a:r>
          </a:p>
        </p:txBody>
      </p:sp>
      <p:sp>
        <p:nvSpPr>
          <p:cNvPr id="17" name="Rectangle 16"/>
          <p:cNvSpPr/>
          <p:nvPr/>
        </p:nvSpPr>
        <p:spPr>
          <a:xfrm>
            <a:off x="548640" y="6437376"/>
            <a:ext cx="256032"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6291072"/>
            <a:ext cx="6400800" cy="365760"/>
          </a:xfrm>
          <a:prstGeom prst="rect">
            <a:avLst/>
          </a:prstGeom>
          <a:noFill/>
        </p:spPr>
        <p:txBody>
          <a:bodyPr wrap="square">
            <a:spAutoFit/>
          </a:bodyPr>
          <a:lstStyle/>
          <a:p>
            <a:pPr algn="l"/>
            <a:r>
              <a:rPr sz="1000" b="0">
                <a:solidFill>
                  <a:srgbClr val="94A3B8"/>
                </a:solidFill>
                <a:latin typeface="Calibri"/>
              </a:rPr>
              <a:t>Qualité de l’air  ·  Prédiction de l’AQI</a:t>
            </a:r>
          </a:p>
        </p:txBody>
      </p:sp>
      <p:sp>
        <p:nvSpPr>
          <p:cNvPr id="19" name="TextBox 18"/>
          <p:cNvSpPr txBox="1"/>
          <p:nvPr/>
        </p:nvSpPr>
        <p:spPr>
          <a:xfrm>
            <a:off x="10241280" y="6291072"/>
            <a:ext cx="1371600" cy="365760"/>
          </a:xfrm>
          <a:prstGeom prst="rect">
            <a:avLst/>
          </a:prstGeom>
          <a:noFill/>
        </p:spPr>
        <p:txBody>
          <a:bodyPr wrap="square">
            <a:spAutoFit/>
          </a:bodyPr>
          <a:lstStyle/>
          <a:p>
            <a:pPr algn="r"/>
            <a:r>
              <a:rPr sz="1000" b="0">
                <a:solidFill>
                  <a:srgbClr val="94A3B8"/>
                </a:solidFill>
                <a:latin typeface="Calibri"/>
              </a:rPr>
              <a:t>05 / 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66928"/>
            <a:ext cx="164592"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10058400" cy="365760"/>
          </a:xfrm>
          <a:prstGeom prst="rect">
            <a:avLst/>
          </a:prstGeom>
          <a:noFill/>
        </p:spPr>
        <p:txBody>
          <a:bodyPr wrap="square">
            <a:spAutoFit/>
          </a:bodyPr>
          <a:lstStyle/>
          <a:p>
            <a:pPr algn="l"/>
            <a:r>
              <a:rPr sz="1300" b="1">
                <a:solidFill>
                  <a:srgbClr val="2563EB"/>
                </a:solidFill>
                <a:latin typeface="Calibri"/>
              </a:rPr>
              <a:t>ARCHITECTURE</a:t>
            </a:r>
          </a:p>
        </p:txBody>
      </p:sp>
      <p:sp>
        <p:nvSpPr>
          <p:cNvPr id="4" name="TextBox 3"/>
          <p:cNvSpPr txBox="1"/>
          <p:nvPr/>
        </p:nvSpPr>
        <p:spPr>
          <a:xfrm>
            <a:off x="841248" y="868680"/>
            <a:ext cx="10789920" cy="868680"/>
          </a:xfrm>
          <a:prstGeom prst="rect">
            <a:avLst/>
          </a:prstGeom>
          <a:noFill/>
        </p:spPr>
        <p:txBody>
          <a:bodyPr wrap="square">
            <a:spAutoFit/>
          </a:bodyPr>
          <a:lstStyle/>
          <a:p>
            <a:pPr algn="l"/>
            <a:r>
              <a:rPr sz="2800" b="1">
                <a:solidFill>
                  <a:srgbClr val="0F172A"/>
                </a:solidFill>
                <a:latin typeface="Calibri"/>
              </a:rPr>
              <a:t>De la donnée au service en production</a:t>
            </a:r>
          </a:p>
        </p:txBody>
      </p:sp>
      <p:sp>
        <p:nvSpPr>
          <p:cNvPr id="5" name="Rounded Rectangle 4"/>
          <p:cNvSpPr/>
          <p:nvPr/>
        </p:nvSpPr>
        <p:spPr>
          <a:xfrm>
            <a:off x="822960" y="2468880"/>
            <a:ext cx="1828800" cy="137160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697480"/>
            <a:ext cx="1828800" cy="1005840"/>
          </a:xfrm>
          <a:prstGeom prst="rect">
            <a:avLst/>
          </a:prstGeom>
          <a:noFill/>
        </p:spPr>
        <p:txBody>
          <a:bodyPr wrap="square">
            <a:spAutoFit/>
          </a:bodyPr>
          <a:lstStyle/>
          <a:p>
            <a:pPr algn="ctr">
              <a:lnSpc>
                <a:spcPct val="100000"/>
              </a:lnSpc>
            </a:pPr>
            <a:r>
              <a:rPr sz="1300" b="1">
                <a:solidFill>
                  <a:srgbClr val="0F172A"/>
                </a:solidFill>
                <a:latin typeface="Calibri"/>
              </a:rPr>
              <a:t>Données</a:t>
            </a:r>
            <a:br/>
            <a:r>
              <a:t>+ Modèle</a:t>
            </a:r>
          </a:p>
        </p:txBody>
      </p:sp>
      <p:sp>
        <p:nvSpPr>
          <p:cNvPr id="7" name="TextBox 6"/>
          <p:cNvSpPr txBox="1"/>
          <p:nvPr/>
        </p:nvSpPr>
        <p:spPr>
          <a:xfrm>
            <a:off x="2633472" y="2788920"/>
            <a:ext cx="411480" cy="731520"/>
          </a:xfrm>
          <a:prstGeom prst="rect">
            <a:avLst/>
          </a:prstGeom>
          <a:noFill/>
        </p:spPr>
        <p:txBody>
          <a:bodyPr wrap="square">
            <a:spAutoFit/>
          </a:bodyPr>
          <a:lstStyle/>
          <a:p>
            <a:pPr algn="ctr"/>
            <a:r>
              <a:rPr sz="2200" b="1">
                <a:solidFill>
                  <a:srgbClr val="2563EB"/>
                </a:solidFill>
                <a:latin typeface="Calibri"/>
              </a:rPr>
              <a:t>→</a:t>
            </a:r>
          </a:p>
        </p:txBody>
      </p:sp>
      <p:sp>
        <p:nvSpPr>
          <p:cNvPr id="8" name="Rounded Rectangle 7"/>
          <p:cNvSpPr/>
          <p:nvPr/>
        </p:nvSpPr>
        <p:spPr>
          <a:xfrm>
            <a:off x="3035808" y="2468880"/>
            <a:ext cx="1828800" cy="137160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35808" y="2697480"/>
            <a:ext cx="1828800" cy="1005840"/>
          </a:xfrm>
          <a:prstGeom prst="rect">
            <a:avLst/>
          </a:prstGeom>
          <a:noFill/>
        </p:spPr>
        <p:txBody>
          <a:bodyPr wrap="square">
            <a:spAutoFit/>
          </a:bodyPr>
          <a:lstStyle/>
          <a:p>
            <a:pPr algn="ctr">
              <a:lnSpc>
                <a:spcPct val="100000"/>
              </a:lnSpc>
            </a:pPr>
            <a:r>
              <a:rPr sz="1300" b="1">
                <a:solidFill>
                  <a:srgbClr val="0F172A"/>
                </a:solidFill>
                <a:latin typeface="Calibri"/>
              </a:rPr>
              <a:t>API REST</a:t>
            </a:r>
            <a:br/>
            <a:r>
              <a:t>(FastAPI)</a:t>
            </a:r>
          </a:p>
        </p:txBody>
      </p:sp>
      <p:sp>
        <p:nvSpPr>
          <p:cNvPr id="10" name="TextBox 9"/>
          <p:cNvSpPr txBox="1"/>
          <p:nvPr/>
        </p:nvSpPr>
        <p:spPr>
          <a:xfrm>
            <a:off x="4846320" y="2788920"/>
            <a:ext cx="411480" cy="731520"/>
          </a:xfrm>
          <a:prstGeom prst="rect">
            <a:avLst/>
          </a:prstGeom>
          <a:noFill/>
        </p:spPr>
        <p:txBody>
          <a:bodyPr wrap="square">
            <a:spAutoFit/>
          </a:bodyPr>
          <a:lstStyle/>
          <a:p>
            <a:pPr algn="ctr"/>
            <a:r>
              <a:rPr sz="2200" b="1">
                <a:solidFill>
                  <a:srgbClr val="2563EB"/>
                </a:solidFill>
                <a:latin typeface="Calibri"/>
              </a:rPr>
              <a:t>→</a:t>
            </a:r>
          </a:p>
        </p:txBody>
      </p:sp>
      <p:sp>
        <p:nvSpPr>
          <p:cNvPr id="11" name="Rounded Rectangle 10"/>
          <p:cNvSpPr/>
          <p:nvPr/>
        </p:nvSpPr>
        <p:spPr>
          <a:xfrm>
            <a:off x="5248656" y="2468880"/>
            <a:ext cx="1828800" cy="137160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48656" y="2697480"/>
            <a:ext cx="1828800" cy="1005840"/>
          </a:xfrm>
          <a:prstGeom prst="rect">
            <a:avLst/>
          </a:prstGeom>
          <a:noFill/>
        </p:spPr>
        <p:txBody>
          <a:bodyPr wrap="square">
            <a:spAutoFit/>
          </a:bodyPr>
          <a:lstStyle/>
          <a:p>
            <a:pPr algn="ctr">
              <a:lnSpc>
                <a:spcPct val="100000"/>
              </a:lnSpc>
            </a:pPr>
            <a:r>
              <a:rPr sz="1300" b="1">
                <a:solidFill>
                  <a:srgbClr val="0F172A"/>
                </a:solidFill>
                <a:latin typeface="Calibri"/>
              </a:rPr>
              <a:t>Application</a:t>
            </a:r>
            <a:br/>
            <a:r>
              <a:t>(Streamlit)</a:t>
            </a:r>
          </a:p>
        </p:txBody>
      </p:sp>
      <p:sp>
        <p:nvSpPr>
          <p:cNvPr id="13" name="TextBox 12"/>
          <p:cNvSpPr txBox="1"/>
          <p:nvPr/>
        </p:nvSpPr>
        <p:spPr>
          <a:xfrm>
            <a:off x="7059168" y="2788920"/>
            <a:ext cx="411480" cy="731520"/>
          </a:xfrm>
          <a:prstGeom prst="rect">
            <a:avLst/>
          </a:prstGeom>
          <a:noFill/>
        </p:spPr>
        <p:txBody>
          <a:bodyPr wrap="square">
            <a:spAutoFit/>
          </a:bodyPr>
          <a:lstStyle/>
          <a:p>
            <a:pPr algn="ctr"/>
            <a:r>
              <a:rPr sz="2200" b="1">
                <a:solidFill>
                  <a:srgbClr val="2563EB"/>
                </a:solidFill>
                <a:latin typeface="Calibri"/>
              </a:rPr>
              <a:t>→</a:t>
            </a:r>
          </a:p>
        </p:txBody>
      </p:sp>
      <p:sp>
        <p:nvSpPr>
          <p:cNvPr id="14" name="Rounded Rectangle 13"/>
          <p:cNvSpPr/>
          <p:nvPr/>
        </p:nvSpPr>
        <p:spPr>
          <a:xfrm>
            <a:off x="7461504" y="2468880"/>
            <a:ext cx="1828800" cy="137160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61504" y="2697480"/>
            <a:ext cx="1828800" cy="1005840"/>
          </a:xfrm>
          <a:prstGeom prst="rect">
            <a:avLst/>
          </a:prstGeom>
          <a:noFill/>
        </p:spPr>
        <p:txBody>
          <a:bodyPr wrap="square">
            <a:spAutoFit/>
          </a:bodyPr>
          <a:lstStyle/>
          <a:p>
            <a:pPr algn="ctr">
              <a:lnSpc>
                <a:spcPct val="100000"/>
              </a:lnSpc>
            </a:pPr>
            <a:r>
              <a:rPr sz="1300" b="1">
                <a:solidFill>
                  <a:srgbClr val="0F172A"/>
                </a:solidFill>
                <a:latin typeface="Calibri"/>
              </a:rPr>
              <a:t>Monitoring</a:t>
            </a:r>
            <a:br/>
            <a:r>
              <a:t>(métriques + alerte)</a:t>
            </a:r>
          </a:p>
        </p:txBody>
      </p:sp>
      <p:sp>
        <p:nvSpPr>
          <p:cNvPr id="16" name="TextBox 15"/>
          <p:cNvSpPr txBox="1"/>
          <p:nvPr/>
        </p:nvSpPr>
        <p:spPr>
          <a:xfrm>
            <a:off x="9272016" y="2788920"/>
            <a:ext cx="411480" cy="731520"/>
          </a:xfrm>
          <a:prstGeom prst="rect">
            <a:avLst/>
          </a:prstGeom>
          <a:noFill/>
        </p:spPr>
        <p:txBody>
          <a:bodyPr wrap="square">
            <a:spAutoFit/>
          </a:bodyPr>
          <a:lstStyle/>
          <a:p>
            <a:pPr algn="ctr"/>
            <a:r>
              <a:rPr sz="2200" b="1">
                <a:solidFill>
                  <a:srgbClr val="2563EB"/>
                </a:solidFill>
                <a:latin typeface="Calibri"/>
              </a:rPr>
              <a:t>→</a:t>
            </a:r>
          </a:p>
        </p:txBody>
      </p:sp>
      <p:sp>
        <p:nvSpPr>
          <p:cNvPr id="17" name="Rounded Rectangle 16"/>
          <p:cNvSpPr/>
          <p:nvPr/>
        </p:nvSpPr>
        <p:spPr>
          <a:xfrm>
            <a:off x="9674352" y="2468880"/>
            <a:ext cx="1828800" cy="137160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74352" y="2697480"/>
            <a:ext cx="1828800" cy="1005840"/>
          </a:xfrm>
          <a:prstGeom prst="rect">
            <a:avLst/>
          </a:prstGeom>
          <a:noFill/>
        </p:spPr>
        <p:txBody>
          <a:bodyPr wrap="square">
            <a:spAutoFit/>
          </a:bodyPr>
          <a:lstStyle/>
          <a:p>
            <a:pPr algn="ctr">
              <a:lnSpc>
                <a:spcPct val="100000"/>
              </a:lnSpc>
            </a:pPr>
            <a:r>
              <a:rPr sz="1300" b="1">
                <a:solidFill>
                  <a:srgbClr val="0F172A"/>
                </a:solidFill>
                <a:latin typeface="Calibri"/>
              </a:rPr>
              <a:t>MLOps</a:t>
            </a:r>
            <a:br/>
            <a:r>
              <a:t>(DVC, CI/CD)</a:t>
            </a:r>
          </a:p>
        </p:txBody>
      </p:sp>
      <p:sp>
        <p:nvSpPr>
          <p:cNvPr id="19" name="Rectangle 18"/>
          <p:cNvSpPr/>
          <p:nvPr/>
        </p:nvSpPr>
        <p:spPr>
          <a:xfrm>
            <a:off x="868680" y="4572000"/>
            <a:ext cx="64008"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553712"/>
            <a:ext cx="10241280" cy="822960"/>
          </a:xfrm>
          <a:prstGeom prst="rect">
            <a:avLst/>
          </a:prstGeom>
          <a:noFill/>
        </p:spPr>
        <p:txBody>
          <a:bodyPr wrap="square">
            <a:spAutoFit/>
          </a:bodyPr>
          <a:lstStyle/>
          <a:p>
            <a:pPr algn="l"/>
            <a:r>
              <a:rPr sz="1100" b="1">
                <a:solidFill>
                  <a:srgbClr val="2563EB"/>
                </a:solidFill>
                <a:latin typeface="Calibri"/>
              </a:rPr>
              <a:t>À RETENIR</a:t>
            </a:r>
          </a:p>
          <a:p>
            <a:pPr algn="l"/>
            <a:r>
              <a:rPr sz="1500" b="0">
                <a:solidFill>
                  <a:srgbClr val="475569"/>
                </a:solidFill>
                <a:latin typeface="Calibri"/>
              </a:rPr>
              <a:t>Chemin d’inférence unique et partagé (inference.py) : aucune divergence possible entre l’API et l’application.</a:t>
            </a:r>
          </a:p>
        </p:txBody>
      </p:sp>
      <p:sp>
        <p:nvSpPr>
          <p:cNvPr id="21" name="Rectangle 20"/>
          <p:cNvSpPr/>
          <p:nvPr/>
        </p:nvSpPr>
        <p:spPr>
          <a:xfrm>
            <a:off x="548640" y="6437376"/>
            <a:ext cx="256032"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6291072"/>
            <a:ext cx="6400800" cy="365760"/>
          </a:xfrm>
          <a:prstGeom prst="rect">
            <a:avLst/>
          </a:prstGeom>
          <a:noFill/>
        </p:spPr>
        <p:txBody>
          <a:bodyPr wrap="square">
            <a:spAutoFit/>
          </a:bodyPr>
          <a:lstStyle/>
          <a:p>
            <a:pPr algn="l"/>
            <a:r>
              <a:rPr sz="1000" b="0">
                <a:solidFill>
                  <a:srgbClr val="94A3B8"/>
                </a:solidFill>
                <a:latin typeface="Calibri"/>
              </a:rPr>
              <a:t>Qualité de l’air  ·  Prédiction de l’AQI</a:t>
            </a:r>
          </a:p>
        </p:txBody>
      </p:sp>
      <p:sp>
        <p:nvSpPr>
          <p:cNvPr id="23" name="TextBox 22"/>
          <p:cNvSpPr txBox="1"/>
          <p:nvPr/>
        </p:nvSpPr>
        <p:spPr>
          <a:xfrm>
            <a:off x="10241280" y="6291072"/>
            <a:ext cx="1371600" cy="365760"/>
          </a:xfrm>
          <a:prstGeom prst="rect">
            <a:avLst/>
          </a:prstGeom>
          <a:noFill/>
        </p:spPr>
        <p:txBody>
          <a:bodyPr wrap="square">
            <a:spAutoFit/>
          </a:bodyPr>
          <a:lstStyle/>
          <a:p>
            <a:pPr algn="r"/>
            <a:r>
              <a:rPr sz="1000" b="0">
                <a:solidFill>
                  <a:srgbClr val="94A3B8"/>
                </a:solidFill>
                <a:latin typeface="Calibri"/>
              </a:rPr>
              <a:t>06 / 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66928"/>
            <a:ext cx="164592"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10058400" cy="365760"/>
          </a:xfrm>
          <a:prstGeom prst="rect">
            <a:avLst/>
          </a:prstGeom>
          <a:noFill/>
        </p:spPr>
        <p:txBody>
          <a:bodyPr wrap="square">
            <a:spAutoFit/>
          </a:bodyPr>
          <a:lstStyle/>
          <a:p>
            <a:pPr algn="l"/>
            <a:r>
              <a:rPr sz="1300" b="1">
                <a:solidFill>
                  <a:srgbClr val="2563EB"/>
                </a:solidFill>
                <a:latin typeface="Calibri"/>
              </a:rPr>
              <a:t>C9 · API REST</a:t>
            </a:r>
          </a:p>
        </p:txBody>
      </p:sp>
      <p:sp>
        <p:nvSpPr>
          <p:cNvPr id="4" name="TextBox 3"/>
          <p:cNvSpPr txBox="1"/>
          <p:nvPr/>
        </p:nvSpPr>
        <p:spPr>
          <a:xfrm>
            <a:off x="841248" y="868680"/>
            <a:ext cx="10789920" cy="868680"/>
          </a:xfrm>
          <a:prstGeom prst="rect">
            <a:avLst/>
          </a:prstGeom>
          <a:noFill/>
        </p:spPr>
        <p:txBody>
          <a:bodyPr wrap="square">
            <a:spAutoFit/>
          </a:bodyPr>
          <a:lstStyle/>
          <a:p>
            <a:pPr algn="l"/>
            <a:r>
              <a:rPr sz="2800" b="1">
                <a:solidFill>
                  <a:srgbClr val="0F172A"/>
                </a:solidFill>
                <a:latin typeface="Calibri"/>
              </a:rPr>
              <a:t>Une API pour exposer le modèle</a:t>
            </a:r>
          </a:p>
        </p:txBody>
      </p:sp>
      <p:sp>
        <p:nvSpPr>
          <p:cNvPr id="5" name="TextBox 4"/>
          <p:cNvSpPr txBox="1"/>
          <p:nvPr/>
        </p:nvSpPr>
        <p:spPr>
          <a:xfrm>
            <a:off x="868680" y="1828800"/>
            <a:ext cx="5394960" cy="2560320"/>
          </a:xfrm>
          <a:prstGeom prst="rect">
            <a:avLst/>
          </a:prstGeom>
          <a:noFill/>
        </p:spPr>
        <p:txBody>
          <a:bodyPr wrap="square">
            <a:spAutoFit/>
          </a:bodyPr>
          <a:lstStyle/>
          <a:p>
            <a:pPr algn="l">
              <a:lnSpc>
                <a:spcPct val="108000"/>
              </a:lnSpc>
            </a:pPr>
            <a:r>
              <a:rPr sz="1800" b="1">
                <a:solidFill>
                  <a:srgbClr val="0F172A"/>
                </a:solidFill>
                <a:latin typeface="Calibri"/>
              </a:rPr>
              <a:t>API REST développée avec FastAPI (serveur uvicorn).</a:t>
            </a:r>
          </a:p>
          <a:p>
            <a:pPr algn="l">
              <a:lnSpc>
                <a:spcPct val="108000"/>
              </a:lnSpc>
            </a:pPr>
            <a:r>
              <a:rPr sz="1600" b="0">
                <a:solidFill>
                  <a:srgbClr val="475569"/>
                </a:solidFill>
                <a:latin typeface="Calibri"/>
              </a:rPr>
              <a:t>Validation des entrées, clé d’API, CORS, limitation de débit.</a:t>
            </a:r>
          </a:p>
          <a:p>
            <a:pPr algn="l">
              <a:lnSpc>
                <a:spcPct val="108000"/>
              </a:lnSpc>
            </a:pPr>
            <a:r>
              <a:rPr sz="1600" b="0">
                <a:solidFill>
                  <a:srgbClr val="475569"/>
                </a:solidFill>
                <a:latin typeface="Calibri"/>
              </a:rPr>
              <a:t>Documentation OpenAPI générée ; interface standardisée inter-composants.</a:t>
            </a:r>
          </a:p>
        </p:txBody>
      </p:sp>
      <p:sp>
        <p:nvSpPr>
          <p:cNvPr id="6" name="Rectangle 5"/>
          <p:cNvSpPr/>
          <p:nvPr/>
        </p:nvSpPr>
        <p:spPr>
          <a:xfrm>
            <a:off x="868680" y="4754880"/>
            <a:ext cx="64008"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736592"/>
            <a:ext cx="5029200" cy="822960"/>
          </a:xfrm>
          <a:prstGeom prst="rect">
            <a:avLst/>
          </a:prstGeom>
          <a:noFill/>
        </p:spPr>
        <p:txBody>
          <a:bodyPr wrap="square">
            <a:spAutoFit/>
          </a:bodyPr>
          <a:lstStyle/>
          <a:p>
            <a:pPr algn="l"/>
            <a:r>
              <a:rPr sz="1100" b="1">
                <a:solidFill>
                  <a:srgbClr val="2563EB"/>
                </a:solidFill>
                <a:latin typeface="Calibri"/>
              </a:rPr>
              <a:t>À RETENIR</a:t>
            </a:r>
          </a:p>
          <a:p>
            <a:pPr algn="l"/>
            <a:r>
              <a:rPr sz="1500" b="0">
                <a:solidFill>
                  <a:srgbClr val="475569"/>
                </a:solidFill>
                <a:latin typeface="Calibri"/>
              </a:rPr>
              <a:t>Interface standardisée et sécurisée entre le modèle et le reste du système.</a:t>
            </a:r>
          </a:p>
        </p:txBody>
      </p:sp>
      <p:sp>
        <p:nvSpPr>
          <p:cNvPr id="8" name="Rounded Rectangle 7"/>
          <p:cNvSpPr/>
          <p:nvPr/>
        </p:nvSpPr>
        <p:spPr>
          <a:xfrm>
            <a:off x="6492240" y="1783080"/>
            <a:ext cx="5120640" cy="420624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9_swagger_overview.png"/>
          <p:cNvPicPr>
            <a:picLocks noChangeAspect="1"/>
          </p:cNvPicPr>
          <p:nvPr/>
        </p:nvPicPr>
        <p:blipFill>
          <a:blip r:embed="rId2"/>
          <a:stretch>
            <a:fillRect/>
          </a:stretch>
        </p:blipFill>
        <p:spPr>
          <a:xfrm>
            <a:off x="6870568" y="1947672"/>
            <a:ext cx="4363984" cy="3877056"/>
          </a:xfrm>
          <a:prstGeom prst="rect">
            <a:avLst/>
          </a:prstGeom>
        </p:spPr>
      </p:pic>
      <p:sp>
        <p:nvSpPr>
          <p:cNvPr id="10" name="Rectangle 9"/>
          <p:cNvSpPr/>
          <p:nvPr/>
        </p:nvSpPr>
        <p:spPr>
          <a:xfrm>
            <a:off x="548640" y="6437376"/>
            <a:ext cx="256032"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6291072"/>
            <a:ext cx="6400800" cy="365760"/>
          </a:xfrm>
          <a:prstGeom prst="rect">
            <a:avLst/>
          </a:prstGeom>
          <a:noFill/>
        </p:spPr>
        <p:txBody>
          <a:bodyPr wrap="square">
            <a:spAutoFit/>
          </a:bodyPr>
          <a:lstStyle/>
          <a:p>
            <a:pPr algn="l"/>
            <a:r>
              <a:rPr sz="1000" b="0">
                <a:solidFill>
                  <a:srgbClr val="94A3B8"/>
                </a:solidFill>
                <a:latin typeface="Calibri"/>
              </a:rPr>
              <a:t>Qualité de l’air  ·  Prédiction de l’AQI</a:t>
            </a:r>
          </a:p>
        </p:txBody>
      </p:sp>
      <p:sp>
        <p:nvSpPr>
          <p:cNvPr id="12" name="TextBox 11"/>
          <p:cNvSpPr txBox="1"/>
          <p:nvPr/>
        </p:nvSpPr>
        <p:spPr>
          <a:xfrm>
            <a:off x="10241280" y="6291072"/>
            <a:ext cx="1371600" cy="365760"/>
          </a:xfrm>
          <a:prstGeom prst="rect">
            <a:avLst/>
          </a:prstGeom>
          <a:noFill/>
        </p:spPr>
        <p:txBody>
          <a:bodyPr wrap="square">
            <a:spAutoFit/>
          </a:bodyPr>
          <a:lstStyle/>
          <a:p>
            <a:pPr algn="r"/>
            <a:r>
              <a:rPr sz="1000" b="0">
                <a:solidFill>
                  <a:srgbClr val="94A3B8"/>
                </a:solidFill>
                <a:latin typeface="Calibri"/>
              </a:rPr>
              <a:t>07 / 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66928"/>
            <a:ext cx="164592"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10058400" cy="365760"/>
          </a:xfrm>
          <a:prstGeom prst="rect">
            <a:avLst/>
          </a:prstGeom>
          <a:noFill/>
        </p:spPr>
        <p:txBody>
          <a:bodyPr wrap="square">
            <a:spAutoFit/>
          </a:bodyPr>
          <a:lstStyle/>
          <a:p>
            <a:pPr algn="l"/>
            <a:r>
              <a:rPr sz="1300" b="1">
                <a:solidFill>
                  <a:srgbClr val="2563EB"/>
                </a:solidFill>
                <a:latin typeface="Calibri"/>
              </a:rPr>
              <a:t>C10 · APPLICATION</a:t>
            </a:r>
          </a:p>
        </p:txBody>
      </p:sp>
      <p:sp>
        <p:nvSpPr>
          <p:cNvPr id="4" name="TextBox 3"/>
          <p:cNvSpPr txBox="1"/>
          <p:nvPr/>
        </p:nvSpPr>
        <p:spPr>
          <a:xfrm>
            <a:off x="841248" y="868680"/>
            <a:ext cx="10789920" cy="868680"/>
          </a:xfrm>
          <a:prstGeom prst="rect">
            <a:avLst/>
          </a:prstGeom>
          <a:noFill/>
        </p:spPr>
        <p:txBody>
          <a:bodyPr wrap="square">
            <a:spAutoFit/>
          </a:bodyPr>
          <a:lstStyle/>
          <a:p>
            <a:pPr algn="l"/>
            <a:r>
              <a:rPr sz="2800" b="1">
                <a:solidFill>
                  <a:srgbClr val="0F172A"/>
                </a:solidFill>
                <a:latin typeface="Calibri"/>
              </a:rPr>
              <a:t>Intégrer l’API dans une application</a:t>
            </a:r>
          </a:p>
        </p:txBody>
      </p:sp>
      <p:sp>
        <p:nvSpPr>
          <p:cNvPr id="5" name="TextBox 4"/>
          <p:cNvSpPr txBox="1"/>
          <p:nvPr/>
        </p:nvSpPr>
        <p:spPr>
          <a:xfrm>
            <a:off x="868680" y="1828800"/>
            <a:ext cx="5394960" cy="2560320"/>
          </a:xfrm>
          <a:prstGeom prst="rect">
            <a:avLst/>
          </a:prstGeom>
          <a:noFill/>
        </p:spPr>
        <p:txBody>
          <a:bodyPr wrap="square">
            <a:spAutoFit/>
          </a:bodyPr>
          <a:lstStyle/>
          <a:p>
            <a:pPr algn="l">
              <a:lnSpc>
                <a:spcPct val="108000"/>
              </a:lnSpc>
            </a:pPr>
            <a:r>
              <a:rPr sz="1800" b="1">
                <a:solidFill>
                  <a:srgbClr val="0F172A"/>
                </a:solidFill>
                <a:latin typeface="Calibri"/>
              </a:rPr>
              <a:t>Application web (Streamlit) consommant l’API via le contrat OpenAPI.</a:t>
            </a:r>
          </a:p>
          <a:p>
            <a:pPr algn="l">
              <a:lnSpc>
                <a:spcPct val="108000"/>
              </a:lnSpc>
            </a:pPr>
            <a:r>
              <a:rPr sz="1600" b="0">
                <a:solidFill>
                  <a:srgbClr val="475569"/>
                </a:solidFill>
                <a:latin typeface="Calibri"/>
              </a:rPr>
              <a:t>Saisie des mesures, restitution de l’AQI et de sa catégorie.</a:t>
            </a:r>
          </a:p>
          <a:p>
            <a:pPr algn="l">
              <a:lnSpc>
                <a:spcPct val="108000"/>
              </a:lnSpc>
            </a:pPr>
            <a:r>
              <a:rPr sz="1600" b="0">
                <a:solidFill>
                  <a:srgbClr val="475569"/>
                </a:solidFill>
                <a:latin typeface="Calibri"/>
              </a:rPr>
              <a:t>Accessibilité (RGAA) : information par texte, icône et couleur.</a:t>
            </a:r>
          </a:p>
        </p:txBody>
      </p:sp>
      <p:sp>
        <p:nvSpPr>
          <p:cNvPr id="6" name="Rectangle 5"/>
          <p:cNvSpPr/>
          <p:nvPr/>
        </p:nvSpPr>
        <p:spPr>
          <a:xfrm>
            <a:off x="868680" y="4754880"/>
            <a:ext cx="64008"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736592"/>
            <a:ext cx="5029200" cy="822960"/>
          </a:xfrm>
          <a:prstGeom prst="rect">
            <a:avLst/>
          </a:prstGeom>
          <a:noFill/>
        </p:spPr>
        <p:txBody>
          <a:bodyPr wrap="square">
            <a:spAutoFit/>
          </a:bodyPr>
          <a:lstStyle/>
          <a:p>
            <a:pPr algn="l"/>
            <a:r>
              <a:rPr sz="1100" b="1">
                <a:solidFill>
                  <a:srgbClr val="2563EB"/>
                </a:solidFill>
                <a:latin typeface="Calibri"/>
              </a:rPr>
              <a:t>À RETENIR</a:t>
            </a:r>
          </a:p>
          <a:p>
            <a:pPr algn="l"/>
            <a:r>
              <a:rPr sz="1500" b="0">
                <a:solidFill>
                  <a:srgbClr val="475569"/>
                </a:solidFill>
                <a:latin typeface="Calibri"/>
              </a:rPr>
              <a:t>Accès métier au modèle, sans compétence technique requise.</a:t>
            </a:r>
          </a:p>
        </p:txBody>
      </p:sp>
      <p:sp>
        <p:nvSpPr>
          <p:cNvPr id="8" name="Rounded Rectangle 7"/>
          <p:cNvSpPr/>
          <p:nvPr/>
        </p:nvSpPr>
        <p:spPr>
          <a:xfrm>
            <a:off x="6492240" y="1783080"/>
            <a:ext cx="5120640" cy="420624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10_result.png"/>
          <p:cNvPicPr>
            <a:picLocks noChangeAspect="1"/>
          </p:cNvPicPr>
          <p:nvPr/>
        </p:nvPicPr>
        <p:blipFill>
          <a:blip r:embed="rId2"/>
          <a:stretch>
            <a:fillRect/>
          </a:stretch>
        </p:blipFill>
        <p:spPr>
          <a:xfrm>
            <a:off x="6656832" y="2222500"/>
            <a:ext cx="4791456" cy="3327400"/>
          </a:xfrm>
          <a:prstGeom prst="rect">
            <a:avLst/>
          </a:prstGeom>
        </p:spPr>
      </p:pic>
      <p:sp>
        <p:nvSpPr>
          <p:cNvPr id="10" name="Rectangle 9"/>
          <p:cNvSpPr/>
          <p:nvPr/>
        </p:nvSpPr>
        <p:spPr>
          <a:xfrm>
            <a:off x="548640" y="6437376"/>
            <a:ext cx="256032"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6291072"/>
            <a:ext cx="6400800" cy="365760"/>
          </a:xfrm>
          <a:prstGeom prst="rect">
            <a:avLst/>
          </a:prstGeom>
          <a:noFill/>
        </p:spPr>
        <p:txBody>
          <a:bodyPr wrap="square">
            <a:spAutoFit/>
          </a:bodyPr>
          <a:lstStyle/>
          <a:p>
            <a:pPr algn="l"/>
            <a:r>
              <a:rPr sz="1000" b="0">
                <a:solidFill>
                  <a:srgbClr val="94A3B8"/>
                </a:solidFill>
                <a:latin typeface="Calibri"/>
              </a:rPr>
              <a:t>Qualité de l’air  ·  Prédiction de l’AQI</a:t>
            </a:r>
          </a:p>
        </p:txBody>
      </p:sp>
      <p:sp>
        <p:nvSpPr>
          <p:cNvPr id="12" name="TextBox 11"/>
          <p:cNvSpPr txBox="1"/>
          <p:nvPr/>
        </p:nvSpPr>
        <p:spPr>
          <a:xfrm>
            <a:off x="10241280" y="6291072"/>
            <a:ext cx="1371600" cy="365760"/>
          </a:xfrm>
          <a:prstGeom prst="rect">
            <a:avLst/>
          </a:prstGeom>
          <a:noFill/>
        </p:spPr>
        <p:txBody>
          <a:bodyPr wrap="square">
            <a:spAutoFit/>
          </a:bodyPr>
          <a:lstStyle/>
          <a:p>
            <a:pPr algn="r"/>
            <a:r>
              <a:rPr sz="1000" b="0">
                <a:solidFill>
                  <a:srgbClr val="94A3B8"/>
                </a:solidFill>
                <a:latin typeface="Calibri"/>
              </a:rPr>
              <a:t>08 / 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66928"/>
            <a:ext cx="164592"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10058400" cy="365760"/>
          </a:xfrm>
          <a:prstGeom prst="rect">
            <a:avLst/>
          </a:prstGeom>
          <a:noFill/>
        </p:spPr>
        <p:txBody>
          <a:bodyPr wrap="square">
            <a:spAutoFit/>
          </a:bodyPr>
          <a:lstStyle/>
          <a:p>
            <a:pPr algn="l"/>
            <a:r>
              <a:rPr sz="1300" b="1">
                <a:solidFill>
                  <a:srgbClr val="2563EB"/>
                </a:solidFill>
                <a:latin typeface="Calibri"/>
              </a:rPr>
              <a:t>C11 · MONITORING</a:t>
            </a:r>
          </a:p>
        </p:txBody>
      </p:sp>
      <p:sp>
        <p:nvSpPr>
          <p:cNvPr id="4" name="TextBox 3"/>
          <p:cNvSpPr txBox="1"/>
          <p:nvPr/>
        </p:nvSpPr>
        <p:spPr>
          <a:xfrm>
            <a:off x="841248" y="868680"/>
            <a:ext cx="10789920" cy="868680"/>
          </a:xfrm>
          <a:prstGeom prst="rect">
            <a:avLst/>
          </a:prstGeom>
          <a:noFill/>
        </p:spPr>
        <p:txBody>
          <a:bodyPr wrap="square">
            <a:spAutoFit/>
          </a:bodyPr>
          <a:lstStyle/>
          <a:p>
            <a:pPr algn="l"/>
            <a:r>
              <a:rPr sz="2800" b="1">
                <a:solidFill>
                  <a:srgbClr val="0F172A"/>
                </a:solidFill>
                <a:latin typeface="Calibri"/>
              </a:rPr>
              <a:t>Surveiller le modèle dans le temps</a:t>
            </a:r>
          </a:p>
        </p:txBody>
      </p:sp>
      <p:sp>
        <p:nvSpPr>
          <p:cNvPr id="5" name="TextBox 4"/>
          <p:cNvSpPr txBox="1"/>
          <p:nvPr/>
        </p:nvSpPr>
        <p:spPr>
          <a:xfrm>
            <a:off x="868680" y="1828800"/>
            <a:ext cx="5394960" cy="2560320"/>
          </a:xfrm>
          <a:prstGeom prst="rect">
            <a:avLst/>
          </a:prstGeom>
          <a:noFill/>
        </p:spPr>
        <p:txBody>
          <a:bodyPr wrap="square">
            <a:spAutoFit/>
          </a:bodyPr>
          <a:lstStyle/>
          <a:p>
            <a:pPr algn="l">
              <a:lnSpc>
                <a:spcPct val="108000"/>
              </a:lnSpc>
            </a:pPr>
            <a:r>
              <a:rPr sz="1800" b="1">
                <a:solidFill>
                  <a:srgbClr val="0F172A"/>
                </a:solidFill>
                <a:latin typeface="Calibri"/>
              </a:rPr>
              <a:t>Collecte : métriques Prometheus en temps réel (/metrics).</a:t>
            </a:r>
          </a:p>
          <a:p>
            <a:pPr algn="l">
              <a:lnSpc>
                <a:spcPct val="108000"/>
              </a:lnSpc>
            </a:pPr>
            <a:r>
              <a:rPr sz="1600" b="0">
                <a:solidFill>
                  <a:srgbClr val="475569"/>
                </a:solidFill>
                <a:latin typeface="Calibri"/>
              </a:rPr>
              <a:t>Restitution : rapport de dérive des données (Evidently).</a:t>
            </a:r>
          </a:p>
          <a:p>
            <a:pPr algn="l">
              <a:lnSpc>
                <a:spcPct val="108000"/>
              </a:lnSpc>
            </a:pPr>
            <a:r>
              <a:rPr sz="1600" b="0">
                <a:solidFill>
                  <a:srgbClr val="475569"/>
                </a:solidFill>
                <a:latin typeface="Calibri"/>
              </a:rPr>
              <a:t>Alerte automatique sur dépassement de seuil (amélioration itérative).</a:t>
            </a:r>
          </a:p>
        </p:txBody>
      </p:sp>
      <p:sp>
        <p:nvSpPr>
          <p:cNvPr id="6" name="Rectangle 5"/>
          <p:cNvSpPr/>
          <p:nvPr/>
        </p:nvSpPr>
        <p:spPr>
          <a:xfrm>
            <a:off x="868680" y="4754880"/>
            <a:ext cx="64008"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736592"/>
            <a:ext cx="5029200" cy="822960"/>
          </a:xfrm>
          <a:prstGeom prst="rect">
            <a:avLst/>
          </a:prstGeom>
          <a:noFill/>
        </p:spPr>
        <p:txBody>
          <a:bodyPr wrap="square">
            <a:spAutoFit/>
          </a:bodyPr>
          <a:lstStyle/>
          <a:p>
            <a:pPr algn="l"/>
            <a:r>
              <a:rPr sz="1100" b="1">
                <a:solidFill>
                  <a:srgbClr val="2563EB"/>
                </a:solidFill>
                <a:latin typeface="Calibri"/>
              </a:rPr>
              <a:t>À RETENIR</a:t>
            </a:r>
          </a:p>
          <a:p>
            <a:pPr algn="l"/>
            <a:r>
              <a:rPr sz="1500" b="0">
                <a:solidFill>
                  <a:srgbClr val="475569"/>
                </a:solidFill>
                <a:latin typeface="Calibri"/>
              </a:rPr>
              <a:t>Surveillance continue pour détecter et corriger la dégradation du modèle.</a:t>
            </a:r>
          </a:p>
        </p:txBody>
      </p:sp>
      <p:sp>
        <p:nvSpPr>
          <p:cNvPr id="8" name="Rounded Rectangle 7"/>
          <p:cNvSpPr/>
          <p:nvPr/>
        </p:nvSpPr>
        <p:spPr>
          <a:xfrm>
            <a:off x="6492240" y="1783080"/>
            <a:ext cx="5120640" cy="420624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11_drift_report.png"/>
          <p:cNvPicPr>
            <a:picLocks noChangeAspect="1"/>
          </p:cNvPicPr>
          <p:nvPr/>
        </p:nvPicPr>
        <p:blipFill>
          <a:blip r:embed="rId2"/>
          <a:stretch>
            <a:fillRect/>
          </a:stretch>
        </p:blipFill>
        <p:spPr>
          <a:xfrm>
            <a:off x="6656832" y="2222500"/>
            <a:ext cx="4791456" cy="3327400"/>
          </a:xfrm>
          <a:prstGeom prst="rect">
            <a:avLst/>
          </a:prstGeom>
        </p:spPr>
      </p:pic>
      <p:sp>
        <p:nvSpPr>
          <p:cNvPr id="10" name="Rectangle 9"/>
          <p:cNvSpPr/>
          <p:nvPr/>
        </p:nvSpPr>
        <p:spPr>
          <a:xfrm>
            <a:off x="548640" y="6437376"/>
            <a:ext cx="256032"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6291072"/>
            <a:ext cx="6400800" cy="365760"/>
          </a:xfrm>
          <a:prstGeom prst="rect">
            <a:avLst/>
          </a:prstGeom>
          <a:noFill/>
        </p:spPr>
        <p:txBody>
          <a:bodyPr wrap="square">
            <a:spAutoFit/>
          </a:bodyPr>
          <a:lstStyle/>
          <a:p>
            <a:pPr algn="l"/>
            <a:r>
              <a:rPr sz="1000" b="0">
                <a:solidFill>
                  <a:srgbClr val="94A3B8"/>
                </a:solidFill>
                <a:latin typeface="Calibri"/>
              </a:rPr>
              <a:t>Qualité de l’air  ·  Prédiction de l’AQI</a:t>
            </a:r>
          </a:p>
        </p:txBody>
      </p:sp>
      <p:sp>
        <p:nvSpPr>
          <p:cNvPr id="12" name="TextBox 11"/>
          <p:cNvSpPr txBox="1"/>
          <p:nvPr/>
        </p:nvSpPr>
        <p:spPr>
          <a:xfrm>
            <a:off x="10241280" y="6291072"/>
            <a:ext cx="1371600" cy="365760"/>
          </a:xfrm>
          <a:prstGeom prst="rect">
            <a:avLst/>
          </a:prstGeom>
          <a:noFill/>
        </p:spPr>
        <p:txBody>
          <a:bodyPr wrap="square">
            <a:spAutoFit/>
          </a:bodyPr>
          <a:lstStyle/>
          <a:p>
            <a:pPr algn="r"/>
            <a:r>
              <a:rPr sz="1000" b="0">
                <a:solidFill>
                  <a:srgbClr val="94A3B8"/>
                </a:solidFill>
                <a:latin typeface="Calibri"/>
              </a:rPr>
              <a:t>09 / 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66928"/>
            <a:ext cx="164592"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10058400" cy="365760"/>
          </a:xfrm>
          <a:prstGeom prst="rect">
            <a:avLst/>
          </a:prstGeom>
          <a:noFill/>
        </p:spPr>
        <p:txBody>
          <a:bodyPr wrap="square">
            <a:spAutoFit/>
          </a:bodyPr>
          <a:lstStyle/>
          <a:p>
            <a:pPr algn="l"/>
            <a:r>
              <a:rPr sz="1300" b="1">
                <a:solidFill>
                  <a:srgbClr val="2563EB"/>
                </a:solidFill>
                <a:latin typeface="Calibri"/>
              </a:rPr>
              <a:t>C12 · TESTS</a:t>
            </a:r>
          </a:p>
        </p:txBody>
      </p:sp>
      <p:sp>
        <p:nvSpPr>
          <p:cNvPr id="4" name="TextBox 3"/>
          <p:cNvSpPr txBox="1"/>
          <p:nvPr/>
        </p:nvSpPr>
        <p:spPr>
          <a:xfrm>
            <a:off x="841248" y="868680"/>
            <a:ext cx="10789920" cy="868680"/>
          </a:xfrm>
          <a:prstGeom prst="rect">
            <a:avLst/>
          </a:prstGeom>
          <a:noFill/>
        </p:spPr>
        <p:txBody>
          <a:bodyPr wrap="square">
            <a:spAutoFit/>
          </a:bodyPr>
          <a:lstStyle/>
          <a:p>
            <a:pPr algn="l"/>
            <a:r>
              <a:rPr sz="2800" b="1">
                <a:solidFill>
                  <a:srgbClr val="0F172A"/>
                </a:solidFill>
                <a:latin typeface="Calibri"/>
              </a:rPr>
              <a:t>Garantir la qualité par les tests</a:t>
            </a:r>
          </a:p>
        </p:txBody>
      </p:sp>
      <p:sp>
        <p:nvSpPr>
          <p:cNvPr id="5" name="TextBox 4"/>
          <p:cNvSpPr txBox="1"/>
          <p:nvPr/>
        </p:nvSpPr>
        <p:spPr>
          <a:xfrm>
            <a:off x="868680" y="1828800"/>
            <a:ext cx="5394960" cy="2560320"/>
          </a:xfrm>
          <a:prstGeom prst="rect">
            <a:avLst/>
          </a:prstGeom>
          <a:noFill/>
        </p:spPr>
        <p:txBody>
          <a:bodyPr wrap="square">
            <a:spAutoFit/>
          </a:bodyPr>
          <a:lstStyle/>
          <a:p>
            <a:pPr algn="l">
              <a:lnSpc>
                <a:spcPct val="108000"/>
              </a:lnSpc>
            </a:pPr>
            <a:r>
              <a:rPr sz="1800" b="1">
                <a:solidFill>
                  <a:srgbClr val="0F172A"/>
                </a:solidFill>
                <a:latin typeface="Calibri"/>
              </a:rPr>
              <a:t>Règles de validation des jeux de données (pandera).</a:t>
            </a:r>
          </a:p>
          <a:p>
            <a:pPr algn="l">
              <a:lnSpc>
                <a:spcPct val="108000"/>
              </a:lnSpc>
            </a:pPr>
            <a:r>
              <a:rPr sz="1600" b="0">
                <a:solidFill>
                  <a:srgbClr val="475569"/>
                </a:solidFill>
                <a:latin typeface="Calibri"/>
              </a:rPr>
              <a:t>Tests des étapes : préparation, entraînement, évaluation.</a:t>
            </a:r>
          </a:p>
          <a:p>
            <a:pPr algn="l">
              <a:lnSpc>
                <a:spcPct val="108000"/>
              </a:lnSpc>
            </a:pPr>
            <a:r>
              <a:rPr sz="1600" b="0">
                <a:solidFill>
                  <a:srgbClr val="475569"/>
                </a:solidFill>
                <a:latin typeface="Calibri"/>
              </a:rPr>
              <a:t>Barrière de validation du modèle (R² &gt; 0,9) pour la CI.</a:t>
            </a:r>
          </a:p>
        </p:txBody>
      </p:sp>
      <p:sp>
        <p:nvSpPr>
          <p:cNvPr id="6" name="Rectangle 5"/>
          <p:cNvSpPr/>
          <p:nvPr/>
        </p:nvSpPr>
        <p:spPr>
          <a:xfrm>
            <a:off x="868680" y="4754880"/>
            <a:ext cx="64008"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736592"/>
            <a:ext cx="5029200" cy="822960"/>
          </a:xfrm>
          <a:prstGeom prst="rect">
            <a:avLst/>
          </a:prstGeom>
          <a:noFill/>
        </p:spPr>
        <p:txBody>
          <a:bodyPr wrap="square">
            <a:spAutoFit/>
          </a:bodyPr>
          <a:lstStyle/>
          <a:p>
            <a:pPr algn="l"/>
            <a:r>
              <a:rPr sz="1100" b="1">
                <a:solidFill>
                  <a:srgbClr val="2563EB"/>
                </a:solidFill>
                <a:latin typeface="Calibri"/>
              </a:rPr>
              <a:t>À RETENIR</a:t>
            </a:r>
          </a:p>
          <a:p>
            <a:pPr algn="l"/>
            <a:r>
              <a:rPr sz="1500" b="0">
                <a:solidFill>
                  <a:srgbClr val="475569"/>
                </a:solidFill>
                <a:latin typeface="Calibri"/>
              </a:rPr>
              <a:t>Qualité garantie et automatisée avant toute mise en production.</a:t>
            </a:r>
          </a:p>
        </p:txBody>
      </p:sp>
      <p:sp>
        <p:nvSpPr>
          <p:cNvPr id="8" name="Rounded Rectangle 7"/>
          <p:cNvSpPr/>
          <p:nvPr/>
        </p:nvSpPr>
        <p:spPr>
          <a:xfrm>
            <a:off x="6492240" y="1783080"/>
            <a:ext cx="5120640" cy="420624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pred_vs_actual.png"/>
          <p:cNvPicPr>
            <a:picLocks noChangeAspect="1"/>
          </p:cNvPicPr>
          <p:nvPr/>
        </p:nvPicPr>
        <p:blipFill>
          <a:blip r:embed="rId2"/>
          <a:stretch>
            <a:fillRect/>
          </a:stretch>
        </p:blipFill>
        <p:spPr>
          <a:xfrm>
            <a:off x="7114032" y="1947672"/>
            <a:ext cx="3877056" cy="3877056"/>
          </a:xfrm>
          <a:prstGeom prst="rect">
            <a:avLst/>
          </a:prstGeom>
        </p:spPr>
      </p:pic>
      <p:sp>
        <p:nvSpPr>
          <p:cNvPr id="10" name="Rectangle 9"/>
          <p:cNvSpPr/>
          <p:nvPr/>
        </p:nvSpPr>
        <p:spPr>
          <a:xfrm>
            <a:off x="548640" y="6437376"/>
            <a:ext cx="256032"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6291072"/>
            <a:ext cx="6400800" cy="365760"/>
          </a:xfrm>
          <a:prstGeom prst="rect">
            <a:avLst/>
          </a:prstGeom>
          <a:noFill/>
        </p:spPr>
        <p:txBody>
          <a:bodyPr wrap="square">
            <a:spAutoFit/>
          </a:bodyPr>
          <a:lstStyle/>
          <a:p>
            <a:pPr algn="l"/>
            <a:r>
              <a:rPr sz="1000" b="0">
                <a:solidFill>
                  <a:srgbClr val="94A3B8"/>
                </a:solidFill>
                <a:latin typeface="Calibri"/>
              </a:rPr>
              <a:t>Qualité de l’air  ·  Prédiction de l’AQI</a:t>
            </a:r>
          </a:p>
        </p:txBody>
      </p:sp>
      <p:sp>
        <p:nvSpPr>
          <p:cNvPr id="12" name="TextBox 11"/>
          <p:cNvSpPr txBox="1"/>
          <p:nvPr/>
        </p:nvSpPr>
        <p:spPr>
          <a:xfrm>
            <a:off x="10241280" y="6291072"/>
            <a:ext cx="1371600" cy="365760"/>
          </a:xfrm>
          <a:prstGeom prst="rect">
            <a:avLst/>
          </a:prstGeom>
          <a:noFill/>
        </p:spPr>
        <p:txBody>
          <a:bodyPr wrap="square">
            <a:spAutoFit/>
          </a:bodyPr>
          <a:lstStyle/>
          <a:p>
            <a:pPr algn="r"/>
            <a:r>
              <a:rPr sz="1000" b="0">
                <a:solidFill>
                  <a:srgbClr val="94A3B8"/>
                </a:solidFill>
                <a:latin typeface="Calibri"/>
              </a:rPr>
              <a:t>10 / 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66928"/>
            <a:ext cx="164592"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10058400" cy="365760"/>
          </a:xfrm>
          <a:prstGeom prst="rect">
            <a:avLst/>
          </a:prstGeom>
          <a:noFill/>
        </p:spPr>
        <p:txBody>
          <a:bodyPr wrap="square">
            <a:spAutoFit/>
          </a:bodyPr>
          <a:lstStyle/>
          <a:p>
            <a:pPr algn="l"/>
            <a:r>
              <a:rPr sz="1300" b="1">
                <a:solidFill>
                  <a:srgbClr val="2563EB"/>
                </a:solidFill>
                <a:latin typeface="Calibri"/>
              </a:rPr>
              <a:t>C13 · MLOPS</a:t>
            </a:r>
          </a:p>
        </p:txBody>
      </p:sp>
      <p:sp>
        <p:nvSpPr>
          <p:cNvPr id="4" name="TextBox 3"/>
          <p:cNvSpPr txBox="1"/>
          <p:nvPr/>
        </p:nvSpPr>
        <p:spPr>
          <a:xfrm>
            <a:off x="841248" y="868680"/>
            <a:ext cx="10789920" cy="868680"/>
          </a:xfrm>
          <a:prstGeom prst="rect">
            <a:avLst/>
          </a:prstGeom>
          <a:noFill/>
        </p:spPr>
        <p:txBody>
          <a:bodyPr wrap="square">
            <a:spAutoFit/>
          </a:bodyPr>
          <a:lstStyle/>
          <a:p>
            <a:pPr algn="l"/>
            <a:r>
              <a:rPr sz="2800" b="1">
                <a:solidFill>
                  <a:srgbClr val="0F172A"/>
                </a:solidFill>
                <a:latin typeface="Calibri"/>
              </a:rPr>
              <a:t>Tout est automatisé (approche MLOps)</a:t>
            </a:r>
          </a:p>
        </p:txBody>
      </p:sp>
      <p:sp>
        <p:nvSpPr>
          <p:cNvPr id="5" name="TextBox 4"/>
          <p:cNvSpPr txBox="1"/>
          <p:nvPr/>
        </p:nvSpPr>
        <p:spPr>
          <a:xfrm>
            <a:off x="868680" y="1828800"/>
            <a:ext cx="10424160" cy="640080"/>
          </a:xfrm>
          <a:prstGeom prst="rect">
            <a:avLst/>
          </a:prstGeom>
          <a:noFill/>
        </p:spPr>
        <p:txBody>
          <a:bodyPr wrap="square">
            <a:spAutoFit/>
          </a:bodyPr>
          <a:lstStyle/>
          <a:p>
            <a:pPr algn="l"/>
            <a:r>
              <a:rPr sz="1800" b="1">
                <a:solidFill>
                  <a:srgbClr val="0F172A"/>
                </a:solidFill>
                <a:latin typeface="Calibri"/>
              </a:rPr>
              <a:t>Chaîne déclenchée automatiquement à chaque modification du code :</a:t>
            </a:r>
          </a:p>
        </p:txBody>
      </p:sp>
      <p:sp>
        <p:nvSpPr>
          <p:cNvPr id="6" name="Rounded Rectangle 5"/>
          <p:cNvSpPr/>
          <p:nvPr/>
        </p:nvSpPr>
        <p:spPr>
          <a:xfrm>
            <a:off x="822960" y="2834640"/>
            <a:ext cx="1828800" cy="114300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017520"/>
            <a:ext cx="1828800" cy="868680"/>
          </a:xfrm>
          <a:prstGeom prst="rect">
            <a:avLst/>
          </a:prstGeom>
          <a:noFill/>
        </p:spPr>
        <p:txBody>
          <a:bodyPr wrap="square">
            <a:spAutoFit/>
          </a:bodyPr>
          <a:lstStyle/>
          <a:p>
            <a:pPr algn="ctr">
              <a:lnSpc>
                <a:spcPct val="100000"/>
              </a:lnSpc>
            </a:pPr>
            <a:r>
              <a:rPr sz="1400" b="1">
                <a:solidFill>
                  <a:srgbClr val="0F172A"/>
                </a:solidFill>
                <a:latin typeface="Calibri"/>
              </a:rPr>
              <a:t>Vérifier</a:t>
            </a:r>
            <a:br/>
            <a:r>
              <a:t>le code</a:t>
            </a:r>
          </a:p>
        </p:txBody>
      </p:sp>
      <p:sp>
        <p:nvSpPr>
          <p:cNvPr id="8" name="TextBox 7"/>
          <p:cNvSpPr txBox="1"/>
          <p:nvPr/>
        </p:nvSpPr>
        <p:spPr>
          <a:xfrm>
            <a:off x="2633472" y="3063240"/>
            <a:ext cx="411480" cy="731520"/>
          </a:xfrm>
          <a:prstGeom prst="rect">
            <a:avLst/>
          </a:prstGeom>
          <a:noFill/>
        </p:spPr>
        <p:txBody>
          <a:bodyPr wrap="square">
            <a:spAutoFit/>
          </a:bodyPr>
          <a:lstStyle/>
          <a:p>
            <a:pPr algn="ctr"/>
            <a:r>
              <a:rPr sz="2200" b="1">
                <a:solidFill>
                  <a:srgbClr val="2563EB"/>
                </a:solidFill>
                <a:latin typeface="Calibri"/>
              </a:rPr>
              <a:t>→</a:t>
            </a:r>
          </a:p>
        </p:txBody>
      </p:sp>
      <p:sp>
        <p:nvSpPr>
          <p:cNvPr id="9" name="Rounded Rectangle 8"/>
          <p:cNvSpPr/>
          <p:nvPr/>
        </p:nvSpPr>
        <p:spPr>
          <a:xfrm>
            <a:off x="3035808" y="2834640"/>
            <a:ext cx="1828800" cy="114300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35808" y="3017520"/>
            <a:ext cx="1828800" cy="868680"/>
          </a:xfrm>
          <a:prstGeom prst="rect">
            <a:avLst/>
          </a:prstGeom>
          <a:noFill/>
        </p:spPr>
        <p:txBody>
          <a:bodyPr wrap="square">
            <a:spAutoFit/>
          </a:bodyPr>
          <a:lstStyle/>
          <a:p>
            <a:pPr algn="ctr">
              <a:lnSpc>
                <a:spcPct val="100000"/>
              </a:lnSpc>
            </a:pPr>
            <a:r>
              <a:rPr sz="1400" b="1">
                <a:solidFill>
                  <a:srgbClr val="0F172A"/>
                </a:solidFill>
                <a:latin typeface="Calibri"/>
              </a:rPr>
              <a:t>Lancer</a:t>
            </a:r>
            <a:br/>
            <a:r>
              <a:t>les tests</a:t>
            </a:r>
          </a:p>
        </p:txBody>
      </p:sp>
      <p:sp>
        <p:nvSpPr>
          <p:cNvPr id="11" name="TextBox 10"/>
          <p:cNvSpPr txBox="1"/>
          <p:nvPr/>
        </p:nvSpPr>
        <p:spPr>
          <a:xfrm>
            <a:off x="4846320" y="3063240"/>
            <a:ext cx="411480" cy="731520"/>
          </a:xfrm>
          <a:prstGeom prst="rect">
            <a:avLst/>
          </a:prstGeom>
          <a:noFill/>
        </p:spPr>
        <p:txBody>
          <a:bodyPr wrap="square">
            <a:spAutoFit/>
          </a:bodyPr>
          <a:lstStyle/>
          <a:p>
            <a:pPr algn="ctr"/>
            <a:r>
              <a:rPr sz="2200" b="1">
                <a:solidFill>
                  <a:srgbClr val="2563EB"/>
                </a:solidFill>
                <a:latin typeface="Calibri"/>
              </a:rPr>
              <a:t>→</a:t>
            </a:r>
          </a:p>
        </p:txBody>
      </p:sp>
      <p:sp>
        <p:nvSpPr>
          <p:cNvPr id="12" name="Rounded Rectangle 11"/>
          <p:cNvSpPr/>
          <p:nvPr/>
        </p:nvSpPr>
        <p:spPr>
          <a:xfrm>
            <a:off x="5248656" y="2834640"/>
            <a:ext cx="1828800" cy="114300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48656" y="3017520"/>
            <a:ext cx="1828800" cy="868680"/>
          </a:xfrm>
          <a:prstGeom prst="rect">
            <a:avLst/>
          </a:prstGeom>
          <a:noFill/>
        </p:spPr>
        <p:txBody>
          <a:bodyPr wrap="square">
            <a:spAutoFit/>
          </a:bodyPr>
          <a:lstStyle/>
          <a:p>
            <a:pPr algn="ctr">
              <a:lnSpc>
                <a:spcPct val="100000"/>
              </a:lnSpc>
            </a:pPr>
            <a:r>
              <a:rPr sz="1400" b="1">
                <a:solidFill>
                  <a:srgbClr val="0F172A"/>
                </a:solidFill>
                <a:latin typeface="Calibri"/>
              </a:rPr>
              <a:t>Réentraîner</a:t>
            </a:r>
            <a:br/>
            <a:r>
              <a:t>le modèle</a:t>
            </a:r>
          </a:p>
        </p:txBody>
      </p:sp>
      <p:sp>
        <p:nvSpPr>
          <p:cNvPr id="14" name="TextBox 13"/>
          <p:cNvSpPr txBox="1"/>
          <p:nvPr/>
        </p:nvSpPr>
        <p:spPr>
          <a:xfrm>
            <a:off x="7059168" y="3063240"/>
            <a:ext cx="411480" cy="731520"/>
          </a:xfrm>
          <a:prstGeom prst="rect">
            <a:avLst/>
          </a:prstGeom>
          <a:noFill/>
        </p:spPr>
        <p:txBody>
          <a:bodyPr wrap="square">
            <a:spAutoFit/>
          </a:bodyPr>
          <a:lstStyle/>
          <a:p>
            <a:pPr algn="ctr"/>
            <a:r>
              <a:rPr sz="2200" b="1">
                <a:solidFill>
                  <a:srgbClr val="2563EB"/>
                </a:solidFill>
                <a:latin typeface="Calibri"/>
              </a:rPr>
              <a:t>→</a:t>
            </a:r>
          </a:p>
        </p:txBody>
      </p:sp>
      <p:sp>
        <p:nvSpPr>
          <p:cNvPr id="15" name="Rounded Rectangle 14"/>
          <p:cNvSpPr/>
          <p:nvPr/>
        </p:nvSpPr>
        <p:spPr>
          <a:xfrm>
            <a:off x="7461504" y="2834640"/>
            <a:ext cx="1828800" cy="114300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61504" y="3017520"/>
            <a:ext cx="1828800" cy="868680"/>
          </a:xfrm>
          <a:prstGeom prst="rect">
            <a:avLst/>
          </a:prstGeom>
          <a:noFill/>
        </p:spPr>
        <p:txBody>
          <a:bodyPr wrap="square">
            <a:spAutoFit/>
          </a:bodyPr>
          <a:lstStyle/>
          <a:p>
            <a:pPr algn="ctr">
              <a:lnSpc>
                <a:spcPct val="100000"/>
              </a:lnSpc>
            </a:pPr>
            <a:r>
              <a:rPr sz="1400" b="1">
                <a:solidFill>
                  <a:srgbClr val="0F172A"/>
                </a:solidFill>
                <a:latin typeface="Calibri"/>
              </a:rPr>
              <a:t>Construire</a:t>
            </a:r>
            <a:br/>
            <a:r>
              <a:t>l’image</a:t>
            </a:r>
          </a:p>
        </p:txBody>
      </p:sp>
      <p:sp>
        <p:nvSpPr>
          <p:cNvPr id="17" name="TextBox 16"/>
          <p:cNvSpPr txBox="1"/>
          <p:nvPr/>
        </p:nvSpPr>
        <p:spPr>
          <a:xfrm>
            <a:off x="9272016" y="3063240"/>
            <a:ext cx="411480" cy="731520"/>
          </a:xfrm>
          <a:prstGeom prst="rect">
            <a:avLst/>
          </a:prstGeom>
          <a:noFill/>
        </p:spPr>
        <p:txBody>
          <a:bodyPr wrap="square">
            <a:spAutoFit/>
          </a:bodyPr>
          <a:lstStyle/>
          <a:p>
            <a:pPr algn="ctr"/>
            <a:r>
              <a:rPr sz="2200" b="1">
                <a:solidFill>
                  <a:srgbClr val="2563EB"/>
                </a:solidFill>
                <a:latin typeface="Calibri"/>
              </a:rPr>
              <a:t>→</a:t>
            </a:r>
          </a:p>
        </p:txBody>
      </p:sp>
      <p:sp>
        <p:nvSpPr>
          <p:cNvPr id="18" name="Rounded Rectangle 17"/>
          <p:cNvSpPr/>
          <p:nvPr/>
        </p:nvSpPr>
        <p:spPr>
          <a:xfrm>
            <a:off x="9674352" y="2834640"/>
            <a:ext cx="1828800" cy="114300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74352" y="3017520"/>
            <a:ext cx="1828800" cy="868680"/>
          </a:xfrm>
          <a:prstGeom prst="rect">
            <a:avLst/>
          </a:prstGeom>
          <a:noFill/>
        </p:spPr>
        <p:txBody>
          <a:bodyPr wrap="square">
            <a:spAutoFit/>
          </a:bodyPr>
          <a:lstStyle/>
          <a:p>
            <a:pPr algn="ctr">
              <a:lnSpc>
                <a:spcPct val="100000"/>
              </a:lnSpc>
            </a:pPr>
            <a:r>
              <a:rPr sz="1400" b="1">
                <a:solidFill>
                  <a:srgbClr val="0F172A"/>
                </a:solidFill>
                <a:latin typeface="Calibri"/>
              </a:rPr>
              <a:t>Publier</a:t>
            </a:r>
          </a:p>
        </p:txBody>
      </p:sp>
      <p:sp>
        <p:nvSpPr>
          <p:cNvPr id="20" name="Rectangle 19"/>
          <p:cNvSpPr/>
          <p:nvPr/>
        </p:nvSpPr>
        <p:spPr>
          <a:xfrm>
            <a:off x="868680" y="4754880"/>
            <a:ext cx="64008" cy="7772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4736592"/>
            <a:ext cx="10241280" cy="822960"/>
          </a:xfrm>
          <a:prstGeom prst="rect">
            <a:avLst/>
          </a:prstGeom>
          <a:noFill/>
        </p:spPr>
        <p:txBody>
          <a:bodyPr wrap="square">
            <a:spAutoFit/>
          </a:bodyPr>
          <a:lstStyle/>
          <a:p>
            <a:pPr algn="l"/>
            <a:r>
              <a:rPr sz="1100" b="1">
                <a:solidFill>
                  <a:srgbClr val="2563EB"/>
                </a:solidFill>
                <a:latin typeface="Calibri"/>
              </a:rPr>
              <a:t>À RETENIR</a:t>
            </a:r>
          </a:p>
          <a:p>
            <a:pPr algn="l"/>
            <a:r>
              <a:rPr sz="1500" b="0">
                <a:solidFill>
                  <a:srgbClr val="475569"/>
                </a:solidFill>
                <a:latin typeface="Calibri"/>
              </a:rPr>
              <a:t>Aucune intervention manuelle : reproductibilité et traçabilité de bout en bout.</a:t>
            </a:r>
          </a:p>
        </p:txBody>
      </p:sp>
      <p:sp>
        <p:nvSpPr>
          <p:cNvPr id="22" name="Rectangle 21"/>
          <p:cNvSpPr/>
          <p:nvPr/>
        </p:nvSpPr>
        <p:spPr>
          <a:xfrm>
            <a:off x="548640" y="6437376"/>
            <a:ext cx="256032"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6291072"/>
            <a:ext cx="6400800" cy="365760"/>
          </a:xfrm>
          <a:prstGeom prst="rect">
            <a:avLst/>
          </a:prstGeom>
          <a:noFill/>
        </p:spPr>
        <p:txBody>
          <a:bodyPr wrap="square">
            <a:spAutoFit/>
          </a:bodyPr>
          <a:lstStyle/>
          <a:p>
            <a:pPr algn="l"/>
            <a:r>
              <a:rPr sz="1000" b="0">
                <a:solidFill>
                  <a:srgbClr val="94A3B8"/>
                </a:solidFill>
                <a:latin typeface="Calibri"/>
              </a:rPr>
              <a:t>Qualité de l’air  ·  Prédiction de l’AQI</a:t>
            </a:r>
          </a:p>
        </p:txBody>
      </p:sp>
      <p:sp>
        <p:nvSpPr>
          <p:cNvPr id="24" name="TextBox 23"/>
          <p:cNvSpPr txBox="1"/>
          <p:nvPr/>
        </p:nvSpPr>
        <p:spPr>
          <a:xfrm>
            <a:off x="10241280" y="6291072"/>
            <a:ext cx="1371600" cy="365760"/>
          </a:xfrm>
          <a:prstGeom prst="rect">
            <a:avLst/>
          </a:prstGeom>
          <a:noFill/>
        </p:spPr>
        <p:txBody>
          <a:bodyPr wrap="square">
            <a:spAutoFit/>
          </a:bodyPr>
          <a:lstStyle/>
          <a:p>
            <a:pPr algn="r"/>
            <a:r>
              <a:rPr sz="1000" b="0">
                <a:solidFill>
                  <a:srgbClr val="94A3B8"/>
                </a:solidFill>
                <a:latin typeface="Calibri"/>
              </a:rPr>
              <a:t>11 / 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66928"/>
            <a:ext cx="164592"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10058400" cy="365760"/>
          </a:xfrm>
          <a:prstGeom prst="rect">
            <a:avLst/>
          </a:prstGeom>
          <a:noFill/>
        </p:spPr>
        <p:txBody>
          <a:bodyPr wrap="square">
            <a:spAutoFit/>
          </a:bodyPr>
          <a:lstStyle/>
          <a:p>
            <a:pPr algn="l"/>
            <a:r>
              <a:rPr sz="1300" b="1">
                <a:solidFill>
                  <a:srgbClr val="2563EB"/>
                </a:solidFill>
                <a:latin typeface="Calibri"/>
              </a:rPr>
              <a:t>DÉMONSTRATION</a:t>
            </a:r>
          </a:p>
        </p:txBody>
      </p:sp>
      <p:sp>
        <p:nvSpPr>
          <p:cNvPr id="4" name="TextBox 3"/>
          <p:cNvSpPr txBox="1"/>
          <p:nvPr/>
        </p:nvSpPr>
        <p:spPr>
          <a:xfrm>
            <a:off x="841248" y="868680"/>
            <a:ext cx="10789920" cy="868680"/>
          </a:xfrm>
          <a:prstGeom prst="rect">
            <a:avLst/>
          </a:prstGeom>
          <a:noFill/>
        </p:spPr>
        <p:txBody>
          <a:bodyPr wrap="square">
            <a:spAutoFit/>
          </a:bodyPr>
          <a:lstStyle/>
          <a:p>
            <a:pPr algn="l"/>
            <a:r>
              <a:rPr sz="2800" b="1">
                <a:solidFill>
                  <a:srgbClr val="0F172A"/>
                </a:solidFill>
                <a:latin typeface="Calibri"/>
              </a:rPr>
              <a:t>La solution en fonctionnement</a:t>
            </a:r>
          </a:p>
        </p:txBody>
      </p:sp>
      <p:sp>
        <p:nvSpPr>
          <p:cNvPr id="5" name="TextBox 4"/>
          <p:cNvSpPr txBox="1"/>
          <p:nvPr/>
        </p:nvSpPr>
        <p:spPr>
          <a:xfrm>
            <a:off x="822960" y="1783080"/>
            <a:ext cx="3840480" cy="4206240"/>
          </a:xfrm>
          <a:prstGeom prst="rect">
            <a:avLst/>
          </a:prstGeom>
          <a:noFill/>
        </p:spPr>
        <p:txBody>
          <a:bodyPr wrap="square">
            <a:spAutoFit/>
          </a:bodyPr>
          <a:lstStyle/>
          <a:p>
            <a:pPr algn="l">
              <a:lnSpc>
                <a:spcPct val="105000"/>
              </a:lnSpc>
            </a:pPr>
            <a:r>
              <a:rPr sz="1600" b="1">
                <a:solidFill>
                  <a:srgbClr val="0F172A"/>
                </a:solidFill>
                <a:latin typeface="Calibri"/>
              </a:rPr>
              <a:t>Contenu de la démonstration :</a:t>
            </a:r>
          </a:p>
          <a:p>
            <a:pPr algn="l">
              <a:lnSpc>
                <a:spcPct val="105000"/>
              </a:lnSpc>
            </a:pPr>
          </a:p>
          <a:p>
            <a:pPr algn="l">
              <a:lnSpc>
                <a:spcPct val="105000"/>
              </a:lnSpc>
            </a:pPr>
            <a:r>
              <a:rPr sz="1500" b="0">
                <a:solidFill>
                  <a:srgbClr val="475569"/>
                </a:solidFill>
                <a:latin typeface="Calibri"/>
              </a:rPr>
              <a:t>1. API : documentation /docs et appel /predict.</a:t>
            </a:r>
          </a:p>
          <a:p>
            <a:pPr algn="l">
              <a:lnSpc>
                <a:spcPct val="105000"/>
              </a:lnSpc>
            </a:pPr>
          </a:p>
          <a:p>
            <a:pPr algn="l">
              <a:lnSpc>
                <a:spcPct val="105000"/>
              </a:lnSpc>
            </a:pPr>
            <a:r>
              <a:rPr sz="1500" b="0">
                <a:solidFill>
                  <a:srgbClr val="475569"/>
                </a:solidFill>
                <a:latin typeface="Calibri"/>
              </a:rPr>
              <a:t>2. Application : saisie, AQI et catégorie.</a:t>
            </a:r>
          </a:p>
          <a:p>
            <a:pPr algn="l">
              <a:lnSpc>
                <a:spcPct val="105000"/>
              </a:lnSpc>
            </a:pPr>
          </a:p>
          <a:p>
            <a:pPr algn="l">
              <a:lnSpc>
                <a:spcPct val="105000"/>
              </a:lnSpc>
            </a:pPr>
            <a:r>
              <a:rPr sz="1500" b="0">
                <a:solidFill>
                  <a:srgbClr val="475569"/>
                </a:solidFill>
                <a:latin typeface="Calibri"/>
              </a:rPr>
              <a:t>3. Monitoring : /metrics et alerte de dérive.</a:t>
            </a:r>
          </a:p>
        </p:txBody>
      </p:sp>
      <p:sp>
        <p:nvSpPr>
          <p:cNvPr id="6" name="Rounded Rectangle 5"/>
          <p:cNvSpPr/>
          <p:nvPr/>
        </p:nvSpPr>
        <p:spPr>
          <a:xfrm>
            <a:off x="4937760" y="1783080"/>
            <a:ext cx="6675120" cy="3754755"/>
          </a:xfrm>
          <a:prstGeom prst="round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37760" y="2468880"/>
            <a:ext cx="6675120" cy="1280160"/>
          </a:xfrm>
          <a:prstGeom prst="rect">
            <a:avLst/>
          </a:prstGeom>
          <a:noFill/>
        </p:spPr>
        <p:txBody>
          <a:bodyPr wrap="square">
            <a:spAutoFit/>
          </a:bodyPr>
          <a:lstStyle/>
          <a:p>
            <a:pPr algn="ctr"/>
            <a:r>
              <a:rPr sz="5400" b="1">
                <a:solidFill>
                  <a:srgbClr val="FFFFFF"/>
                </a:solidFill>
                <a:latin typeface="Calibri"/>
              </a:rPr>
              <a:t>▶</a:t>
            </a:r>
          </a:p>
        </p:txBody>
      </p:sp>
      <p:sp>
        <p:nvSpPr>
          <p:cNvPr id="8" name="TextBox 7"/>
          <p:cNvSpPr txBox="1"/>
          <p:nvPr/>
        </p:nvSpPr>
        <p:spPr>
          <a:xfrm>
            <a:off x="4937760" y="3794760"/>
            <a:ext cx="6675120" cy="548640"/>
          </a:xfrm>
          <a:prstGeom prst="rect">
            <a:avLst/>
          </a:prstGeom>
          <a:noFill/>
        </p:spPr>
        <p:txBody>
          <a:bodyPr wrap="square">
            <a:spAutoFit/>
          </a:bodyPr>
          <a:lstStyle/>
          <a:p>
            <a:pPr algn="ctr"/>
            <a:r>
              <a:rPr sz="1600" b="1">
                <a:solidFill>
                  <a:srgbClr val="FFFFFF"/>
                </a:solidFill>
                <a:latin typeface="Calibri"/>
              </a:rPr>
              <a:t>Insérez ici la vidéo de démonstration</a:t>
            </a:r>
          </a:p>
        </p:txBody>
      </p:sp>
      <p:sp>
        <p:nvSpPr>
          <p:cNvPr id="9" name="TextBox 8"/>
          <p:cNvSpPr txBox="1"/>
          <p:nvPr/>
        </p:nvSpPr>
        <p:spPr>
          <a:xfrm>
            <a:off x="4937760" y="4389120"/>
            <a:ext cx="6675120" cy="548640"/>
          </a:xfrm>
          <a:prstGeom prst="rect">
            <a:avLst/>
          </a:prstGeom>
          <a:noFill/>
        </p:spPr>
        <p:txBody>
          <a:bodyPr wrap="square">
            <a:spAutoFit/>
          </a:bodyPr>
          <a:lstStyle/>
          <a:p>
            <a:pPr algn="ctr"/>
            <a:r>
              <a:rPr sz="1200" b="0">
                <a:solidFill>
                  <a:srgbClr val="CBD5E1"/>
                </a:solidFill>
                <a:latin typeface="Calibri"/>
              </a:rPr>
              <a:t>PowerPoint : Insertion › Vidéo › Cet appareil</a:t>
            </a:r>
          </a:p>
        </p:txBody>
      </p:sp>
      <p:sp>
        <p:nvSpPr>
          <p:cNvPr id="10" name="Rectangle 9"/>
          <p:cNvSpPr/>
          <p:nvPr/>
        </p:nvSpPr>
        <p:spPr>
          <a:xfrm>
            <a:off x="548640" y="6437376"/>
            <a:ext cx="256032"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6291072"/>
            <a:ext cx="6400800" cy="365760"/>
          </a:xfrm>
          <a:prstGeom prst="rect">
            <a:avLst/>
          </a:prstGeom>
          <a:noFill/>
        </p:spPr>
        <p:txBody>
          <a:bodyPr wrap="square">
            <a:spAutoFit/>
          </a:bodyPr>
          <a:lstStyle/>
          <a:p>
            <a:pPr algn="l"/>
            <a:r>
              <a:rPr sz="1000" b="0">
                <a:solidFill>
                  <a:srgbClr val="94A3B8"/>
                </a:solidFill>
                <a:latin typeface="Calibri"/>
              </a:rPr>
              <a:t>Qualité de l’air  ·  Prédiction de l’AQI</a:t>
            </a:r>
          </a:p>
        </p:txBody>
      </p:sp>
      <p:sp>
        <p:nvSpPr>
          <p:cNvPr id="12" name="TextBox 11"/>
          <p:cNvSpPr txBox="1"/>
          <p:nvPr/>
        </p:nvSpPr>
        <p:spPr>
          <a:xfrm>
            <a:off x="10241280" y="6291072"/>
            <a:ext cx="1371600" cy="365760"/>
          </a:xfrm>
          <a:prstGeom prst="rect">
            <a:avLst/>
          </a:prstGeom>
          <a:noFill/>
        </p:spPr>
        <p:txBody>
          <a:bodyPr wrap="square">
            <a:spAutoFit/>
          </a:bodyPr>
          <a:lstStyle/>
          <a:p>
            <a:pPr algn="r"/>
            <a:r>
              <a:rPr sz="1000" b="0">
                <a:solidFill>
                  <a:srgbClr val="94A3B8"/>
                </a:solidFill>
                <a:latin typeface="Calibri"/>
              </a:rPr>
              <a:t>12 / 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566928"/>
            <a:ext cx="164592"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68680" y="502920"/>
            <a:ext cx="10058400" cy="365760"/>
          </a:xfrm>
          <a:prstGeom prst="rect">
            <a:avLst/>
          </a:prstGeom>
          <a:noFill/>
        </p:spPr>
        <p:txBody>
          <a:bodyPr wrap="square">
            <a:spAutoFit/>
          </a:bodyPr>
          <a:lstStyle/>
          <a:p>
            <a:pPr algn="l"/>
            <a:r>
              <a:rPr sz="1300" b="1">
                <a:solidFill>
                  <a:srgbClr val="2563EB"/>
                </a:solidFill>
                <a:latin typeface="Calibri"/>
              </a:rPr>
              <a:t>CONCLUSION</a:t>
            </a:r>
          </a:p>
        </p:txBody>
      </p:sp>
      <p:sp>
        <p:nvSpPr>
          <p:cNvPr id="4" name="TextBox 3"/>
          <p:cNvSpPr txBox="1"/>
          <p:nvPr/>
        </p:nvSpPr>
        <p:spPr>
          <a:xfrm>
            <a:off x="822960" y="2103120"/>
            <a:ext cx="10789920" cy="2194560"/>
          </a:xfrm>
          <a:prstGeom prst="rect">
            <a:avLst/>
          </a:prstGeom>
          <a:noFill/>
        </p:spPr>
        <p:txBody>
          <a:bodyPr wrap="square">
            <a:spAutoFit/>
          </a:bodyPr>
          <a:lstStyle/>
          <a:p>
            <a:pPr algn="l">
              <a:lnSpc>
                <a:spcPct val="105000"/>
              </a:lnSpc>
            </a:pPr>
            <a:r>
              <a:rPr sz="3200" b="1">
                <a:solidFill>
                  <a:srgbClr val="0F172A"/>
                </a:solidFill>
                <a:latin typeface="Calibri"/>
              </a:rPr>
              <a:t>Au-delà du modèle :</a:t>
            </a:r>
          </a:p>
          <a:p>
            <a:pPr algn="l">
              <a:lnSpc>
                <a:spcPct val="105000"/>
              </a:lnSpc>
            </a:pPr>
            <a:r>
              <a:rPr sz="3200" b="1">
                <a:solidFill>
                  <a:srgbClr val="0F172A"/>
                </a:solidFill>
                <a:latin typeface="Calibri"/>
              </a:rPr>
              <a:t>la chaîne complète de mise en production.</a:t>
            </a:r>
          </a:p>
        </p:txBody>
      </p:sp>
      <p:sp>
        <p:nvSpPr>
          <p:cNvPr id="5" name="TextBox 4"/>
          <p:cNvSpPr txBox="1"/>
          <p:nvPr/>
        </p:nvSpPr>
        <p:spPr>
          <a:xfrm>
            <a:off x="868680" y="4480560"/>
            <a:ext cx="10241280" cy="1280160"/>
          </a:xfrm>
          <a:prstGeom prst="rect">
            <a:avLst/>
          </a:prstGeom>
          <a:noFill/>
        </p:spPr>
        <p:txBody>
          <a:bodyPr wrap="square">
            <a:spAutoFit/>
          </a:bodyPr>
          <a:lstStyle/>
          <a:p>
            <a:pPr algn="l">
              <a:lnSpc>
                <a:spcPct val="110000"/>
              </a:lnSpc>
            </a:pPr>
            <a:r>
              <a:rPr sz="1800" b="0">
                <a:solidFill>
                  <a:srgbClr val="475569"/>
                </a:solidFill>
                <a:latin typeface="Calibri"/>
              </a:rPr>
              <a:t>Perspectives : déploiement cloud, accessibilité renforcée et suivi des performances en conditions réelles.</a:t>
            </a:r>
          </a:p>
        </p:txBody>
      </p:sp>
      <p:sp>
        <p:nvSpPr>
          <p:cNvPr id="6" name="Rectangle 5"/>
          <p:cNvSpPr/>
          <p:nvPr/>
        </p:nvSpPr>
        <p:spPr>
          <a:xfrm>
            <a:off x="548640" y="6437376"/>
            <a:ext cx="256032"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6291072"/>
            <a:ext cx="6400800" cy="365760"/>
          </a:xfrm>
          <a:prstGeom prst="rect">
            <a:avLst/>
          </a:prstGeom>
          <a:noFill/>
        </p:spPr>
        <p:txBody>
          <a:bodyPr wrap="square">
            <a:spAutoFit/>
          </a:bodyPr>
          <a:lstStyle/>
          <a:p>
            <a:pPr algn="l"/>
            <a:r>
              <a:rPr sz="1000" b="0">
                <a:solidFill>
                  <a:srgbClr val="94A3B8"/>
                </a:solidFill>
                <a:latin typeface="Calibri"/>
              </a:rPr>
              <a:t>Qualité de l’air  ·  Prédiction de l’AQI</a:t>
            </a:r>
          </a:p>
        </p:txBody>
      </p:sp>
      <p:sp>
        <p:nvSpPr>
          <p:cNvPr id="8" name="TextBox 7"/>
          <p:cNvSpPr txBox="1"/>
          <p:nvPr/>
        </p:nvSpPr>
        <p:spPr>
          <a:xfrm>
            <a:off x="10241280" y="6291072"/>
            <a:ext cx="1371600" cy="365760"/>
          </a:xfrm>
          <a:prstGeom prst="rect">
            <a:avLst/>
          </a:prstGeom>
          <a:noFill/>
        </p:spPr>
        <p:txBody>
          <a:bodyPr wrap="square">
            <a:spAutoFit/>
          </a:bodyPr>
          <a:lstStyle/>
          <a:p>
            <a:pPr algn="r"/>
            <a:r>
              <a:rPr sz="1000" b="0">
                <a:solidFill>
                  <a:srgbClr val="94A3B8"/>
                </a:solidFill>
                <a:latin typeface="Calibri"/>
              </a:rPr>
              <a:t>13 / 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 y="3200400"/>
            <a:ext cx="914400" cy="1097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331720"/>
            <a:ext cx="10515600" cy="914400"/>
          </a:xfrm>
          <a:prstGeom prst="rect">
            <a:avLst/>
          </a:prstGeom>
          <a:noFill/>
        </p:spPr>
        <p:txBody>
          <a:bodyPr wrap="square">
            <a:spAutoFit/>
          </a:bodyPr>
          <a:lstStyle/>
          <a:p>
            <a:pPr algn="l"/>
            <a:r>
              <a:rPr sz="4200" b="1">
                <a:solidFill>
                  <a:srgbClr val="FFFFFF"/>
                </a:solidFill>
                <a:latin typeface="Calibri"/>
              </a:rPr>
              <a:t>Merci de votre attention</a:t>
            </a:r>
          </a:p>
        </p:txBody>
      </p:sp>
      <p:sp>
        <p:nvSpPr>
          <p:cNvPr id="5" name="TextBox 4"/>
          <p:cNvSpPr txBox="1"/>
          <p:nvPr/>
        </p:nvSpPr>
        <p:spPr>
          <a:xfrm>
            <a:off x="886968" y="3520440"/>
            <a:ext cx="10058400" cy="548640"/>
          </a:xfrm>
          <a:prstGeom prst="rect">
            <a:avLst/>
          </a:prstGeom>
          <a:noFill/>
        </p:spPr>
        <p:txBody>
          <a:bodyPr wrap="square">
            <a:spAutoFit/>
          </a:bodyPr>
          <a:lstStyle/>
          <a:p>
            <a:pPr algn="l"/>
            <a:r>
              <a:rPr sz="1800" b="0">
                <a:solidFill>
                  <a:srgbClr val="CBD5E1"/>
                </a:solidFill>
                <a:latin typeface="Calibri"/>
              </a:rPr>
              <a:t>Place à la démonstration et à vos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